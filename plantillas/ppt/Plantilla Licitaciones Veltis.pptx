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</p:sldMasterIdLst>
  <p:notesMasterIdLst>
    <p:notesMasterId r:id="rId13"/>
  </p:notesMasterIdLst>
  <p:sldIdLst>
    <p:sldId id="1241" r:id="rId5"/>
    <p:sldId id="1244" r:id="rId6"/>
    <p:sldId id="1245" r:id="rId19"/>
    <p:sldId id="1222" r:id="rId7"/>
    <p:sldId id="1223" r:id="rId8"/>
    <p:sldId id="1235" r:id="rId9"/>
    <p:sldId id="1238" r:id="rId10"/>
    <p:sldId id="1239" r:id="rId11"/>
    <p:sldId id="1242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xmlns:p14="http://schemas.microsoft.com/office/powerpoint/2010/main" uri="{521415D9-36F7-43E2-AB2F-B90AF26B5E84}">
      <p14:sectionLst>
        <p14:section name="Portada" id="{A1B2C300-0000-4000-8000-00005EC70000}">
          <p14:sldIdLst>
            <p14:sldId id="1241"/>
          </p14:sldIdLst>
        </p14:section>
        <p14:section name="Resumen — Comité" id="{A1B2C301-0000-4000-8000-00005EC70001}">
          <p14:sldIdLst>
            <p14:sldId id="1244"/>
          </p14:sldIdLst>
        </p14:section>
        <p14:section name="Resumen — Comercial" id="{A1B2C302-0000-4000-8000-00005EC70002}">
          <p14:sldIdLst>
            <p14:sldId id="1245"/>
          </p14:sldIdLst>
        </p14:section>
        <p14:section name="Contexto y alcance (común)" id="{A1B2C303-0000-4000-8000-00005EC70003}">
          <p14:sldIdLst>
            <p14:sldId id="1222"/>
            <p14:sldId id="1223"/>
          </p14:sldIdLst>
        </p14:section>
        <p14:section name="Financiero — Comité" id="{A1B2C304-0000-4000-8000-00005EC70004}">
          <p14:sldIdLst>
            <p14:sldId id="1235"/>
            <p14:sldId id="1238"/>
            <p14:sldId id="1239"/>
          </p14:sldIdLst>
        </p14:section>
        <p14:section name="Cierre" id="{A1B2C305-0000-4000-8000-00005EC70005}">
          <p14:sldIdLst>
            <p14:sldId id="1242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981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  <p15:guide id="5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7FDC60-9A62-68A6-C4D1-6CB7F2252534}" name="Luis Cordova Guerrero" initials="LCG" userId="S::luis.cordova@ferrovialservicios.cl::f6c58248-9b7f-4c05-b731-3aafc5b092f1" providerId="AD"/>
  <p188:author id="{210852C5-6711-CA7F-AB26-7B0457732FA2}" name="Christopher Waddington Taborga" initials="CWT" userId="S::Chris.waddington@ferrovialservicios.cl::333a21c1-8a28-42ba-a271-d8c5912dec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200"/>
    <a:srgbClr val="5A5A5A"/>
    <a:srgbClr val="FFC82C"/>
    <a:srgbClr val="ADCBC8"/>
    <a:srgbClr val="D0CBA8"/>
    <a:srgbClr val="A69D5A"/>
    <a:srgbClr val="FF6600"/>
    <a:srgbClr val="78BC20"/>
    <a:srgbClr val="A0BB91"/>
    <a:srgbClr val="B7D4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AF606853-7671-496A-8E4F-DF71F8EC918B}" styleName="Estilo oscuro 1 - Énfasis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82" d="100"/>
          <a:sy n="182" d="100"/>
        </p:scale>
        <p:origin x="509" y="130"/>
      </p:cViewPr>
      <p:guideLst>
        <p:guide orient="horz" pos="981"/>
        <p:guide orient="horz" pos="22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  <Relationship Id="rId19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5C2A1D-612C-4374-B44C-50DE0CE21071}" type="datetimeFigureOut">
              <a:rPr lang="es-CL" smtClean="0"/>
              <a:t>20-10-2026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52A4CA-7D3B-45C5-8915-AC625CEF2EF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8504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PLANTILLA — PORTADA</a:t>
            </a:r>
          </a:p>
          <a:p>
            <a:r>
              <a:rPr lang="es-CL"/>
              <a:t>Reemplazar los textos entre [corchetes]. Versión Comité: «Aprobación de la propuesta de …». Versión Comercial: «Propuesta técnico-económica de …».</a:t>
            </a:r>
          </a:p>
          <a:p>
            <a:r>
              <a:rPr lang="es-CL"/>
              <a:t>El logo «steel» corresponde a la empresa licitante: cambiarlo por el de Berliam / Walvis / Quintrax cuando corresponda.</a:t>
            </a:r>
          </a:p>
          <a:p>
            <a:r>
              <a:rPr lang="es-CL"/>
              <a:t>La foto de fondo se cambia con clic derecho → Cambiar imagen.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5E7982-6A8D-F94B-B14B-18E25F0AA4C2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verpas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verpas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9893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PLANTILLA — RESUMEN (VERSIÓN COMITÉ)</a:t>
            </a:r>
          </a:p>
          <a:p>
            <a:r>
              <a:rPr lang="es-CL"/>
              <a:t>Uso interno: incluye cifras financieras. Completar las 4 tarjetas con la hoja Summary del Excel de perfil y la tabla con los datos de las bases.</a:t>
            </a:r>
          </a:p>
          <a:p>
            <a:r>
              <a:rPr lang="es-CL"/>
              <a:t>Para una presentación al cliente eliminar la sección «Resumen — Comité» y usar el resumen comercial.</a:t>
            </a:r>
          </a:p>
          <a:p>
            <a:r>
              <a:rPr lang="es-CL"/>
              <a:t>Antes de presentar, verificar que Faena, Localidad, Código y fechas del Excel correspondan al proceso (el Excel suele heredar campos de otra licitación).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PLANTILLA — PRINCIPALES ACTIVIDADES</a:t>
            </a:r>
          </a:p>
          <a:p>
            <a:r>
              <a:rPr lang="es-CL"/>
              <a:t>Fotos en formato aprox. 1,76:1. Reemplazar con clic derecho → Cambiar imagen → Desde un archivo.</a:t>
            </a:r>
          </a:p>
          <a:p>
            <a:r>
              <a:rPr lang="es-CL"/>
              <a:t>Verificar que cada foto corresponda a la actividad descrita y que tenga resolución suficiente si se imprime.</a:t>
            </a:r>
          </a:p>
          <a:p>
            <a:r>
              <a:rPr lang="es-CL"/>
              <a:t>Si hay menos de 5 actividades, eliminar la tarjeta completa (imagen, recuadro y textos).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PLANTILLA — KPI Y MULTAS</a:t>
            </a:r>
          </a:p>
          <a:p>
            <a:r>
              <a:rPr lang="es-CL"/>
              <a:t>Completar con los KPI y la fórmula de descuento de las bases. «Medio» y «Desv.» son la media y la desviación usadas en la simulación del descuento esperado.</a:t>
            </a:r>
          </a:p>
          <a:p>
            <a:r>
              <a:rPr lang="es-CL"/>
              <a:t>Si el contrato no tiene KPI afectos a multas, eliminar la lámina.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8216C-78E2-4789-D4BA-C1E12E7C2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76E6174-7E07-2544-3722-C54A578CE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96E1D3E-06E1-6673-3460-BC8E449C8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PLANTILLA — P&amp;L</a:t>
            </a:r>
          </a:p>
          <a:p>
            <a:r>
              <a:rPr lang="es-CL"/>
              <a:t>Pegar el rango del Excel como imagen. Lámina de uso interno (comité): no incluir en presentaciones al cliente.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26750C-3F5A-8107-74A0-D3002595D5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5E7982-6A8D-F94B-B14B-18E25F0AA4C2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verpas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verpas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9712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D4531-2186-FA50-BE84-FE000BD13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BB4FA95-21B3-77E8-C4EC-F7DFFC92D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65FD714-5609-B116-7ED7-88D0BD0C8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PLANTILLA — CASHFLOW</a:t>
            </a:r>
          </a:p>
          <a:p>
            <a:r>
              <a:rPr lang="es-CL"/>
              <a:t>Pegar el rango del Excel como imagen. Lámina de uso interno (comité): no incluir en presentaciones al cliente.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9814E0-DFC0-02EC-CB24-15F432E949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5E7982-6A8D-F94B-B14B-18E25F0AA4C2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verpas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verpas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7832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5E7982-6A8D-F94B-B14B-18E25F0AA4C2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verpas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verpas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172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ítulo 1">
            <a:extLst>
              <a:ext uri="{FF2B5EF4-FFF2-40B4-BE49-F238E27FC236}">
                <a16:creationId xmlns:a16="http://schemas.microsoft.com/office/drawing/2014/main" id="{076BDBED-5DDA-73C8-ADD3-E74E7DC84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7478"/>
            <a:ext cx="10972800" cy="1143000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834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26006E9C-EBBA-7989-0DDC-0A155BC440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62763" y="0"/>
            <a:ext cx="5329237" cy="6858000"/>
          </a:xfrm>
          <a:solidFill>
            <a:schemeClr val="bg1">
              <a:lumMod val="95000"/>
            </a:schemeClr>
          </a:solidFill>
          <a:effectLst>
            <a:outerShdw blurRad="791168" dist="38100" dir="10800000" algn="r" rotWithShape="0">
              <a:prstClr val="black">
                <a:alpha val="2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s-ES_tradnl"/>
              <a:t>Haz clic en el ícono para insertar tu imagen</a:t>
            </a:r>
          </a:p>
        </p:txBody>
      </p:sp>
    </p:spTree>
    <p:extLst>
      <p:ext uri="{BB962C8B-B14F-4D97-AF65-F5344CB8AC3E}">
        <p14:creationId xmlns:p14="http://schemas.microsoft.com/office/powerpoint/2010/main" val="2440669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567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57478"/>
            <a:ext cx="10972800" cy="1143000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6925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i="0" kern="1200">
          <a:solidFill>
            <a:schemeClr val="tx1">
              <a:lumMod val="75000"/>
              <a:lumOff val="25000"/>
            </a:schemeClr>
          </a:solidFill>
          <a:latin typeface="Overpas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Overpass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Overpass" pitchFamily="2" charset="77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Overpass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Overpass" pitchFamily="2" charset="77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Overpass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Overpass" pitchFamily="2" charset="77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Overpass"/>
        <a:buChar char="–"/>
        <a:defRPr sz="1400" kern="1200">
          <a:solidFill>
            <a:schemeClr val="tx1">
              <a:lumMod val="75000"/>
              <a:lumOff val="25000"/>
            </a:schemeClr>
          </a:solidFill>
          <a:latin typeface="Overpass" pitchFamily="2" charset="77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Overpass"/>
        <a:buChar char="»"/>
        <a:defRPr sz="1400" kern="1200">
          <a:solidFill>
            <a:schemeClr val="tx1">
              <a:lumMod val="75000"/>
              <a:lumOff val="25000"/>
            </a:schemeClr>
          </a:solidFill>
          <a:latin typeface="Overpass" pitchFamily="2" charset="7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Overpas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Overpas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Overpas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Overpas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foto_placeholder.jpeg"/><Relationship Id="rId7" Type="http://schemas.openxmlformats.org/officeDocument/2006/relationships/image" Target="../media/foto_placeholder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foto_placeholder.jpeg"/><Relationship Id="rId5" Type="http://schemas.openxmlformats.org/officeDocument/2006/relationships/image" Target="../media/foto_placeholder.jpeg"/><Relationship Id="rId4" Type="http://schemas.openxmlformats.org/officeDocument/2006/relationships/image" Target="../media/foto_placeholder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15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336102F-C5DC-75EB-5B7E-8B6A1BBBC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5" r="6975"/>
          <a:stretch/>
        </p:blipFill>
        <p:spPr>
          <a:xfrm>
            <a:off x="-217901" y="-38721"/>
            <a:ext cx="8935282" cy="691513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sp>
        <p:nvSpPr>
          <p:cNvPr id="4" name="Paralelogramo 20">
            <a:extLst>
              <a:ext uri="{FF2B5EF4-FFF2-40B4-BE49-F238E27FC236}">
                <a16:creationId xmlns:a16="http://schemas.microsoft.com/office/drawing/2014/main" id="{390E0C56-6AB0-E15C-8470-229207165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-44613"/>
            <a:ext cx="6113185" cy="6939791"/>
          </a:xfrm>
          <a:custGeom>
            <a:avLst/>
            <a:gdLst>
              <a:gd name="connsiteX0" fmla="*/ 0 w 4194264"/>
              <a:gd name="connsiteY0" fmla="*/ 6884270 h 6884270"/>
              <a:gd name="connsiteX1" fmla="*/ 1877269 w 4194264"/>
              <a:gd name="connsiteY1" fmla="*/ 0 h 6884270"/>
              <a:gd name="connsiteX2" fmla="*/ 4194264 w 4194264"/>
              <a:gd name="connsiteY2" fmla="*/ 0 h 6884270"/>
              <a:gd name="connsiteX3" fmla="*/ 2316995 w 4194264"/>
              <a:gd name="connsiteY3" fmla="*/ 6884270 h 6884270"/>
              <a:gd name="connsiteX4" fmla="*/ 0 w 4194264"/>
              <a:gd name="connsiteY4" fmla="*/ 6884270 h 6884270"/>
              <a:gd name="connsiteX0" fmla="*/ 0 w 6120340"/>
              <a:gd name="connsiteY0" fmla="*/ 6884270 h 6884270"/>
              <a:gd name="connsiteX1" fmla="*/ 3803345 w 6120340"/>
              <a:gd name="connsiteY1" fmla="*/ 0 h 6884270"/>
              <a:gd name="connsiteX2" fmla="*/ 6120340 w 6120340"/>
              <a:gd name="connsiteY2" fmla="*/ 0 h 6884270"/>
              <a:gd name="connsiteX3" fmla="*/ 4243071 w 6120340"/>
              <a:gd name="connsiteY3" fmla="*/ 6884270 h 6884270"/>
              <a:gd name="connsiteX4" fmla="*/ 0 w 6120340"/>
              <a:gd name="connsiteY4" fmla="*/ 6884270 h 6884270"/>
              <a:gd name="connsiteX0" fmla="*/ 0 w 6120340"/>
              <a:gd name="connsiteY0" fmla="*/ 6884270 h 6903726"/>
              <a:gd name="connsiteX1" fmla="*/ 3803345 w 6120340"/>
              <a:gd name="connsiteY1" fmla="*/ 0 h 6903726"/>
              <a:gd name="connsiteX2" fmla="*/ 6120340 w 6120340"/>
              <a:gd name="connsiteY2" fmla="*/ 0 h 6903726"/>
              <a:gd name="connsiteX3" fmla="*/ 5916228 w 6120340"/>
              <a:gd name="connsiteY3" fmla="*/ 6903726 h 6903726"/>
              <a:gd name="connsiteX4" fmla="*/ 0 w 6120340"/>
              <a:gd name="connsiteY4" fmla="*/ 6884270 h 6903726"/>
              <a:gd name="connsiteX0" fmla="*/ 0 w 5916228"/>
              <a:gd name="connsiteY0" fmla="*/ 6884270 h 6903726"/>
              <a:gd name="connsiteX1" fmla="*/ 3803345 w 5916228"/>
              <a:gd name="connsiteY1" fmla="*/ 0 h 6903726"/>
              <a:gd name="connsiteX2" fmla="*/ 5264306 w 5916228"/>
              <a:gd name="connsiteY2" fmla="*/ 564204 h 6903726"/>
              <a:gd name="connsiteX3" fmla="*/ 5916228 w 5916228"/>
              <a:gd name="connsiteY3" fmla="*/ 6903726 h 6903726"/>
              <a:gd name="connsiteX4" fmla="*/ 0 w 5916228"/>
              <a:gd name="connsiteY4" fmla="*/ 6884270 h 6903726"/>
              <a:gd name="connsiteX0" fmla="*/ 0 w 5925787"/>
              <a:gd name="connsiteY0" fmla="*/ 6903726 h 6923182"/>
              <a:gd name="connsiteX1" fmla="*/ 3803345 w 5925787"/>
              <a:gd name="connsiteY1" fmla="*/ 19456 h 6923182"/>
              <a:gd name="connsiteX2" fmla="*/ 5925787 w 5925787"/>
              <a:gd name="connsiteY2" fmla="*/ 0 h 6923182"/>
              <a:gd name="connsiteX3" fmla="*/ 5916228 w 5925787"/>
              <a:gd name="connsiteY3" fmla="*/ 6923182 h 6923182"/>
              <a:gd name="connsiteX4" fmla="*/ 0 w 5925787"/>
              <a:gd name="connsiteY4" fmla="*/ 6903726 h 6923182"/>
              <a:gd name="connsiteX0" fmla="*/ 0 w 5925787"/>
              <a:gd name="connsiteY0" fmla="*/ 6923181 h 6942637"/>
              <a:gd name="connsiteX1" fmla="*/ 3803345 w 5925787"/>
              <a:gd name="connsiteY1" fmla="*/ 0 h 6942637"/>
              <a:gd name="connsiteX2" fmla="*/ 5925787 w 5925787"/>
              <a:gd name="connsiteY2" fmla="*/ 19455 h 6942637"/>
              <a:gd name="connsiteX3" fmla="*/ 5916228 w 5925787"/>
              <a:gd name="connsiteY3" fmla="*/ 6942637 h 6942637"/>
              <a:gd name="connsiteX4" fmla="*/ 0 w 5925787"/>
              <a:gd name="connsiteY4" fmla="*/ 6923181 h 6942637"/>
              <a:gd name="connsiteX0" fmla="*/ 0 w 5945242"/>
              <a:gd name="connsiteY0" fmla="*/ 6942637 h 6962093"/>
              <a:gd name="connsiteX1" fmla="*/ 3803345 w 5945242"/>
              <a:gd name="connsiteY1" fmla="*/ 19456 h 6962093"/>
              <a:gd name="connsiteX2" fmla="*/ 5945242 w 5945242"/>
              <a:gd name="connsiteY2" fmla="*/ 0 h 6962093"/>
              <a:gd name="connsiteX3" fmla="*/ 5916228 w 5945242"/>
              <a:gd name="connsiteY3" fmla="*/ 6962093 h 6962093"/>
              <a:gd name="connsiteX4" fmla="*/ 0 w 5945242"/>
              <a:gd name="connsiteY4" fmla="*/ 6942637 h 6962093"/>
              <a:gd name="connsiteX0" fmla="*/ 0 w 6139904"/>
              <a:gd name="connsiteY0" fmla="*/ 6923181 h 6942637"/>
              <a:gd name="connsiteX1" fmla="*/ 3803345 w 6139904"/>
              <a:gd name="connsiteY1" fmla="*/ 0 h 6942637"/>
              <a:gd name="connsiteX2" fmla="*/ 6139904 w 6139904"/>
              <a:gd name="connsiteY2" fmla="*/ 10281 h 6942637"/>
              <a:gd name="connsiteX3" fmla="*/ 5916228 w 6139904"/>
              <a:gd name="connsiteY3" fmla="*/ 6942637 h 6942637"/>
              <a:gd name="connsiteX4" fmla="*/ 0 w 6139904"/>
              <a:gd name="connsiteY4" fmla="*/ 6923181 h 6942637"/>
              <a:gd name="connsiteX0" fmla="*/ 0 w 6154878"/>
              <a:gd name="connsiteY0" fmla="*/ 6935203 h 6954659"/>
              <a:gd name="connsiteX1" fmla="*/ 3803345 w 6154878"/>
              <a:gd name="connsiteY1" fmla="*/ 12022 h 6954659"/>
              <a:gd name="connsiteX2" fmla="*/ 6154878 w 6154878"/>
              <a:gd name="connsiteY2" fmla="*/ 0 h 6954659"/>
              <a:gd name="connsiteX3" fmla="*/ 5916228 w 6154878"/>
              <a:gd name="connsiteY3" fmla="*/ 6954659 h 6954659"/>
              <a:gd name="connsiteX4" fmla="*/ 0 w 6154878"/>
              <a:gd name="connsiteY4" fmla="*/ 6935203 h 6954659"/>
              <a:gd name="connsiteX0" fmla="*/ 0 w 6156634"/>
              <a:gd name="connsiteY0" fmla="*/ 6935203 h 6939791"/>
              <a:gd name="connsiteX1" fmla="*/ 3803345 w 6156634"/>
              <a:gd name="connsiteY1" fmla="*/ 12022 h 6939791"/>
              <a:gd name="connsiteX2" fmla="*/ 6154878 w 6156634"/>
              <a:gd name="connsiteY2" fmla="*/ 0 h 6939791"/>
              <a:gd name="connsiteX3" fmla="*/ 6155811 w 6156634"/>
              <a:gd name="connsiteY3" fmla="*/ 6939791 h 6939791"/>
              <a:gd name="connsiteX4" fmla="*/ 0 w 6156634"/>
              <a:gd name="connsiteY4" fmla="*/ 6935203 h 6939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6634" h="6939791">
                <a:moveTo>
                  <a:pt x="0" y="6935203"/>
                </a:moveTo>
                <a:lnTo>
                  <a:pt x="3803345" y="12022"/>
                </a:lnTo>
                <a:lnTo>
                  <a:pt x="6154878" y="0"/>
                </a:lnTo>
                <a:cubicBezTo>
                  <a:pt x="6151692" y="2307727"/>
                  <a:pt x="6158997" y="4632064"/>
                  <a:pt x="6155811" y="6939791"/>
                </a:cubicBezTo>
                <a:lnTo>
                  <a:pt x="0" y="6935203"/>
                </a:lnTo>
                <a:close/>
              </a:path>
            </a:pathLst>
          </a:cu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6000">
                <a:srgbClr val="333333"/>
              </a:gs>
              <a:gs pos="43000">
                <a:schemeClr val="tx1">
                  <a:lumMod val="85000"/>
                  <a:lumOff val="1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/>
              <a:t>&lt;&lt;</a:t>
            </a:r>
          </a:p>
        </p:txBody>
      </p:sp>
      <p:sp>
        <p:nvSpPr>
          <p:cNvPr id="8" name="Paralelogramo 20">
            <a:extLst>
              <a:ext uri="{FF2B5EF4-FFF2-40B4-BE49-F238E27FC236}">
                <a16:creationId xmlns:a16="http://schemas.microsoft.com/office/drawing/2014/main" id="{DF0A7E35-9F66-27D2-45FF-1DE4EDD526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 flipH="1">
            <a:off x="5501918" y="-73225"/>
            <a:ext cx="5903285" cy="6962093"/>
          </a:xfrm>
          <a:custGeom>
            <a:avLst/>
            <a:gdLst>
              <a:gd name="connsiteX0" fmla="*/ 0 w 4194264"/>
              <a:gd name="connsiteY0" fmla="*/ 6884270 h 6884270"/>
              <a:gd name="connsiteX1" fmla="*/ 1877269 w 4194264"/>
              <a:gd name="connsiteY1" fmla="*/ 0 h 6884270"/>
              <a:gd name="connsiteX2" fmla="*/ 4194264 w 4194264"/>
              <a:gd name="connsiteY2" fmla="*/ 0 h 6884270"/>
              <a:gd name="connsiteX3" fmla="*/ 2316995 w 4194264"/>
              <a:gd name="connsiteY3" fmla="*/ 6884270 h 6884270"/>
              <a:gd name="connsiteX4" fmla="*/ 0 w 4194264"/>
              <a:gd name="connsiteY4" fmla="*/ 6884270 h 6884270"/>
              <a:gd name="connsiteX0" fmla="*/ 0 w 6120340"/>
              <a:gd name="connsiteY0" fmla="*/ 6884270 h 6884270"/>
              <a:gd name="connsiteX1" fmla="*/ 3803345 w 6120340"/>
              <a:gd name="connsiteY1" fmla="*/ 0 h 6884270"/>
              <a:gd name="connsiteX2" fmla="*/ 6120340 w 6120340"/>
              <a:gd name="connsiteY2" fmla="*/ 0 h 6884270"/>
              <a:gd name="connsiteX3" fmla="*/ 4243071 w 6120340"/>
              <a:gd name="connsiteY3" fmla="*/ 6884270 h 6884270"/>
              <a:gd name="connsiteX4" fmla="*/ 0 w 6120340"/>
              <a:gd name="connsiteY4" fmla="*/ 6884270 h 6884270"/>
              <a:gd name="connsiteX0" fmla="*/ 0 w 6120340"/>
              <a:gd name="connsiteY0" fmla="*/ 6884270 h 6903726"/>
              <a:gd name="connsiteX1" fmla="*/ 3803345 w 6120340"/>
              <a:gd name="connsiteY1" fmla="*/ 0 h 6903726"/>
              <a:gd name="connsiteX2" fmla="*/ 6120340 w 6120340"/>
              <a:gd name="connsiteY2" fmla="*/ 0 h 6903726"/>
              <a:gd name="connsiteX3" fmla="*/ 5916228 w 6120340"/>
              <a:gd name="connsiteY3" fmla="*/ 6903726 h 6903726"/>
              <a:gd name="connsiteX4" fmla="*/ 0 w 6120340"/>
              <a:gd name="connsiteY4" fmla="*/ 6884270 h 6903726"/>
              <a:gd name="connsiteX0" fmla="*/ 0 w 5916228"/>
              <a:gd name="connsiteY0" fmla="*/ 6884270 h 6903726"/>
              <a:gd name="connsiteX1" fmla="*/ 3803345 w 5916228"/>
              <a:gd name="connsiteY1" fmla="*/ 0 h 6903726"/>
              <a:gd name="connsiteX2" fmla="*/ 5264306 w 5916228"/>
              <a:gd name="connsiteY2" fmla="*/ 564204 h 6903726"/>
              <a:gd name="connsiteX3" fmla="*/ 5916228 w 5916228"/>
              <a:gd name="connsiteY3" fmla="*/ 6903726 h 6903726"/>
              <a:gd name="connsiteX4" fmla="*/ 0 w 5916228"/>
              <a:gd name="connsiteY4" fmla="*/ 6884270 h 6903726"/>
              <a:gd name="connsiteX0" fmla="*/ 0 w 5925787"/>
              <a:gd name="connsiteY0" fmla="*/ 6903726 h 6923182"/>
              <a:gd name="connsiteX1" fmla="*/ 3803345 w 5925787"/>
              <a:gd name="connsiteY1" fmla="*/ 19456 h 6923182"/>
              <a:gd name="connsiteX2" fmla="*/ 5925787 w 5925787"/>
              <a:gd name="connsiteY2" fmla="*/ 0 h 6923182"/>
              <a:gd name="connsiteX3" fmla="*/ 5916228 w 5925787"/>
              <a:gd name="connsiteY3" fmla="*/ 6923182 h 6923182"/>
              <a:gd name="connsiteX4" fmla="*/ 0 w 5925787"/>
              <a:gd name="connsiteY4" fmla="*/ 6903726 h 6923182"/>
              <a:gd name="connsiteX0" fmla="*/ 0 w 5925787"/>
              <a:gd name="connsiteY0" fmla="*/ 6923181 h 6942637"/>
              <a:gd name="connsiteX1" fmla="*/ 3803345 w 5925787"/>
              <a:gd name="connsiteY1" fmla="*/ 0 h 6942637"/>
              <a:gd name="connsiteX2" fmla="*/ 5925787 w 5925787"/>
              <a:gd name="connsiteY2" fmla="*/ 19455 h 6942637"/>
              <a:gd name="connsiteX3" fmla="*/ 5916228 w 5925787"/>
              <a:gd name="connsiteY3" fmla="*/ 6942637 h 6942637"/>
              <a:gd name="connsiteX4" fmla="*/ 0 w 5925787"/>
              <a:gd name="connsiteY4" fmla="*/ 6923181 h 6942637"/>
              <a:gd name="connsiteX0" fmla="*/ 0 w 5945242"/>
              <a:gd name="connsiteY0" fmla="*/ 6942637 h 6962093"/>
              <a:gd name="connsiteX1" fmla="*/ 3803345 w 5945242"/>
              <a:gd name="connsiteY1" fmla="*/ 19456 h 6962093"/>
              <a:gd name="connsiteX2" fmla="*/ 5945242 w 5945242"/>
              <a:gd name="connsiteY2" fmla="*/ 0 h 6962093"/>
              <a:gd name="connsiteX3" fmla="*/ 5916228 w 5945242"/>
              <a:gd name="connsiteY3" fmla="*/ 6962093 h 6962093"/>
              <a:gd name="connsiteX4" fmla="*/ 0 w 5945242"/>
              <a:gd name="connsiteY4" fmla="*/ 6942637 h 6962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45242" h="6962093">
                <a:moveTo>
                  <a:pt x="0" y="6942637"/>
                </a:moveTo>
                <a:lnTo>
                  <a:pt x="3803345" y="19456"/>
                </a:lnTo>
                <a:lnTo>
                  <a:pt x="5945242" y="0"/>
                </a:lnTo>
                <a:cubicBezTo>
                  <a:pt x="5942056" y="2307727"/>
                  <a:pt x="5919414" y="4654366"/>
                  <a:pt x="5916228" y="6962093"/>
                </a:cubicBezTo>
                <a:lnTo>
                  <a:pt x="0" y="6942637"/>
                </a:lnTo>
                <a:close/>
              </a:path>
            </a:pathLst>
          </a:cu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99000">
                <a:schemeClr val="tx1">
                  <a:lumMod val="85000"/>
                  <a:lumOff val="15000"/>
                </a:schemeClr>
              </a:gs>
            </a:gsLst>
            <a:lin ang="0" scaled="0"/>
          </a:gradFill>
          <a:ln>
            <a:noFill/>
          </a:ln>
          <a:effectLst>
            <a:outerShdw blurRad="88900" dist="38100" dir="10800000" sx="101000" sy="101000" algn="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C7A7940-A17A-E338-B0AA-E3EE0BDE1D5A}"/>
              </a:ext>
            </a:extLst>
          </p:cNvPr>
          <p:cNvSpPr/>
          <p:nvPr/>
        </p:nvSpPr>
        <p:spPr>
          <a:xfrm>
            <a:off x="7938204" y="2153841"/>
            <a:ext cx="3957586" cy="307777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pPr algn="r"/>
            <a:r>
              <a:rPr lang="es-CL" sz="1400" dirty="0">
                <a:solidFill>
                  <a:srgbClr val="FC5E24"/>
                </a:solidFill>
                <a:latin typeface="Overpass"/>
              </a:rPr>
              <a:t>[CLIENTE – DIVISIÓN / ÁREA]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2AFFDD6-D975-5D56-593D-848AE8118BC7}"/>
              </a:ext>
            </a:extLst>
          </p:cNvPr>
          <p:cNvSpPr/>
          <p:nvPr/>
        </p:nvSpPr>
        <p:spPr>
          <a:xfrm>
            <a:off x="7666108" y="2345556"/>
            <a:ext cx="4333177" cy="1938992"/>
          </a:xfrm>
          <a:prstGeom prst="rect">
            <a:avLst/>
          </a:prstGeom>
        </p:spPr>
        <p:txBody>
          <a:bodyPr wrap="square" rIns="0">
            <a:spAutoFit/>
          </a:bodyPr>
          <a:lstStyle/>
          <a:p>
            <a:r>
              <a:rPr lang="es-CL" sz="3000" cap="small" dirty="0">
                <a:solidFill>
                  <a:schemeClr val="bg1"/>
                </a:solidFill>
              </a:rPr>
              <a:t>Aprobación de la propuesta de [SERVICIO] [INSTALACIÓN / FAENA]</a:t>
            </a:r>
          </a:p>
        </p:txBody>
      </p:sp>
      <p:sp>
        <p:nvSpPr>
          <p:cNvPr id="17" name="Triángulo 16">
            <a:extLst>
              <a:ext uri="{FF2B5EF4-FFF2-40B4-BE49-F238E27FC236}">
                <a16:creationId xmlns:a16="http://schemas.microsoft.com/office/drawing/2014/main" id="{452C8F8B-E6CA-A26C-7CD2-2176B171BB7B}"/>
              </a:ext>
            </a:extLst>
          </p:cNvPr>
          <p:cNvSpPr/>
          <p:nvPr/>
        </p:nvSpPr>
        <p:spPr>
          <a:xfrm>
            <a:off x="5402045" y="-43927"/>
            <a:ext cx="1710512" cy="1507165"/>
          </a:xfrm>
          <a:prstGeom prst="triangle">
            <a:avLst/>
          </a:prstGeom>
          <a:solidFill>
            <a:srgbClr val="7E2F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" name="Triángulo 17">
            <a:extLst>
              <a:ext uri="{FF2B5EF4-FFF2-40B4-BE49-F238E27FC236}">
                <a16:creationId xmlns:a16="http://schemas.microsoft.com/office/drawing/2014/main" id="{5A11B1EA-B74B-79E1-63C7-34A1ECAAC250}"/>
              </a:ext>
            </a:extLst>
          </p:cNvPr>
          <p:cNvSpPr/>
          <p:nvPr/>
        </p:nvSpPr>
        <p:spPr>
          <a:xfrm rot="10800000">
            <a:off x="8466226" y="-43927"/>
            <a:ext cx="2484910" cy="2196144"/>
          </a:xfrm>
          <a:prstGeom prst="triangle">
            <a:avLst/>
          </a:prstGeom>
          <a:solidFill>
            <a:srgbClr val="BD461B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Triángulo 18">
            <a:extLst>
              <a:ext uri="{FF2B5EF4-FFF2-40B4-BE49-F238E27FC236}">
                <a16:creationId xmlns:a16="http://schemas.microsoft.com/office/drawing/2014/main" id="{18AEC0A1-D599-129B-8B6D-349AA8DD50D6}"/>
              </a:ext>
            </a:extLst>
          </p:cNvPr>
          <p:cNvSpPr/>
          <p:nvPr/>
        </p:nvSpPr>
        <p:spPr>
          <a:xfrm>
            <a:off x="10108125" y="-43927"/>
            <a:ext cx="1710512" cy="1507165"/>
          </a:xfrm>
          <a:prstGeom prst="triangle">
            <a:avLst/>
          </a:prstGeom>
          <a:solidFill>
            <a:srgbClr val="BD461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0" name="Triángulo 19">
            <a:extLst>
              <a:ext uri="{FF2B5EF4-FFF2-40B4-BE49-F238E27FC236}">
                <a16:creationId xmlns:a16="http://schemas.microsoft.com/office/drawing/2014/main" id="{1BB48475-46E6-45C3-2706-FC5C892688BE}"/>
              </a:ext>
            </a:extLst>
          </p:cNvPr>
          <p:cNvSpPr/>
          <p:nvPr/>
        </p:nvSpPr>
        <p:spPr>
          <a:xfrm rot="10800000">
            <a:off x="-345311" y="678116"/>
            <a:ext cx="1710512" cy="1503990"/>
          </a:xfrm>
          <a:custGeom>
            <a:avLst/>
            <a:gdLst>
              <a:gd name="connsiteX0" fmla="*/ 0 w 1710512"/>
              <a:gd name="connsiteY0" fmla="*/ 1507165 h 1507165"/>
              <a:gd name="connsiteX1" fmla="*/ 855256 w 1710512"/>
              <a:gd name="connsiteY1" fmla="*/ 0 h 1507165"/>
              <a:gd name="connsiteX2" fmla="*/ 1710512 w 1710512"/>
              <a:gd name="connsiteY2" fmla="*/ 1507165 h 1507165"/>
              <a:gd name="connsiteX3" fmla="*/ 0 w 1710512"/>
              <a:gd name="connsiteY3" fmla="*/ 1507165 h 1507165"/>
              <a:gd name="connsiteX0" fmla="*/ 0 w 1710512"/>
              <a:gd name="connsiteY0" fmla="*/ 1507165 h 1507165"/>
              <a:gd name="connsiteX1" fmla="*/ 858431 w 1710512"/>
              <a:gd name="connsiteY1" fmla="*/ 0 h 1507165"/>
              <a:gd name="connsiteX2" fmla="*/ 1710512 w 1710512"/>
              <a:gd name="connsiteY2" fmla="*/ 1507165 h 1507165"/>
              <a:gd name="connsiteX3" fmla="*/ 0 w 1710512"/>
              <a:gd name="connsiteY3" fmla="*/ 1507165 h 1507165"/>
              <a:gd name="connsiteX0" fmla="*/ 0 w 1710512"/>
              <a:gd name="connsiteY0" fmla="*/ 1503990 h 1503990"/>
              <a:gd name="connsiteX1" fmla="*/ 858431 w 1710512"/>
              <a:gd name="connsiteY1" fmla="*/ 0 h 1503990"/>
              <a:gd name="connsiteX2" fmla="*/ 1710512 w 1710512"/>
              <a:gd name="connsiteY2" fmla="*/ 1503990 h 1503990"/>
              <a:gd name="connsiteX3" fmla="*/ 0 w 1710512"/>
              <a:gd name="connsiteY3" fmla="*/ 1503990 h 1503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0512" h="1503990">
                <a:moveTo>
                  <a:pt x="0" y="1503990"/>
                </a:moveTo>
                <a:lnTo>
                  <a:pt x="858431" y="0"/>
                </a:lnTo>
                <a:lnTo>
                  <a:pt x="1710512" y="1503990"/>
                </a:lnTo>
                <a:lnTo>
                  <a:pt x="0" y="1503990"/>
                </a:lnTo>
                <a:close/>
              </a:path>
            </a:pathLst>
          </a:custGeom>
          <a:solidFill>
            <a:srgbClr val="FC5E24">
              <a:alpha val="9696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Paralelogramo 20">
            <a:extLst>
              <a:ext uri="{FF2B5EF4-FFF2-40B4-BE49-F238E27FC236}">
                <a16:creationId xmlns:a16="http://schemas.microsoft.com/office/drawing/2014/main" id="{92D42F4D-8232-8B2F-C6A6-7BFA4487149B}"/>
              </a:ext>
            </a:extLst>
          </p:cNvPr>
          <p:cNvSpPr/>
          <p:nvPr/>
        </p:nvSpPr>
        <p:spPr>
          <a:xfrm rot="10800000">
            <a:off x="504386" y="0"/>
            <a:ext cx="3477531" cy="2185281"/>
          </a:xfrm>
          <a:prstGeom prst="parallelogram">
            <a:avLst>
              <a:gd name="adj" fmla="val 57282"/>
            </a:avLst>
          </a:prstGeom>
          <a:solidFill>
            <a:srgbClr val="BD461B">
              <a:alpha val="50000"/>
            </a:srgbClr>
          </a:solidFill>
          <a:ln>
            <a:noFill/>
          </a:ln>
          <a:effectLst>
            <a:outerShdw blurRad="1270000" dist="38100" dir="10800000" sx="102000" sy="102000" algn="r" rotWithShape="0">
              <a:prstClr val="black">
                <a:alpha val="5571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Paralelogramo 21">
            <a:extLst>
              <a:ext uri="{FF2B5EF4-FFF2-40B4-BE49-F238E27FC236}">
                <a16:creationId xmlns:a16="http://schemas.microsoft.com/office/drawing/2014/main" id="{F31573B7-5293-A551-9696-DFF709FB0031}"/>
              </a:ext>
            </a:extLst>
          </p:cNvPr>
          <p:cNvSpPr/>
          <p:nvPr/>
        </p:nvSpPr>
        <p:spPr>
          <a:xfrm rot="10800000" flipH="1">
            <a:off x="6255001" y="-43927"/>
            <a:ext cx="3477531" cy="2185281"/>
          </a:xfrm>
          <a:prstGeom prst="parallelogram">
            <a:avLst>
              <a:gd name="adj" fmla="val 57282"/>
            </a:avLst>
          </a:prstGeom>
          <a:solidFill>
            <a:srgbClr val="FC5E24">
              <a:alpha val="82338"/>
            </a:srgbClr>
          </a:solidFill>
          <a:ln>
            <a:noFill/>
          </a:ln>
          <a:effectLst>
            <a:outerShdw blurRad="114300" dist="38100" dir="10800000" sx="101000" sy="101000" algn="r" rotWithShape="0">
              <a:prstClr val="black">
                <a:alpha val="1436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3" name="Triángulo 22">
            <a:extLst>
              <a:ext uri="{FF2B5EF4-FFF2-40B4-BE49-F238E27FC236}">
                <a16:creationId xmlns:a16="http://schemas.microsoft.com/office/drawing/2014/main" id="{294D4405-EA4B-454E-6E89-780DD8BCF90B}"/>
              </a:ext>
            </a:extLst>
          </p:cNvPr>
          <p:cNvSpPr/>
          <p:nvPr/>
        </p:nvSpPr>
        <p:spPr>
          <a:xfrm>
            <a:off x="3457269" y="-17581"/>
            <a:ext cx="1052224" cy="927135"/>
          </a:xfrm>
          <a:prstGeom prst="triangle">
            <a:avLst/>
          </a:prstGeom>
          <a:solidFill>
            <a:srgbClr val="FC5E24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4" name="Triángulo 23">
            <a:extLst>
              <a:ext uri="{FF2B5EF4-FFF2-40B4-BE49-F238E27FC236}">
                <a16:creationId xmlns:a16="http://schemas.microsoft.com/office/drawing/2014/main" id="{CF89C69B-FDC8-DDBC-B4B1-0E54B6ADF389}"/>
              </a:ext>
            </a:extLst>
          </p:cNvPr>
          <p:cNvSpPr/>
          <p:nvPr/>
        </p:nvSpPr>
        <p:spPr>
          <a:xfrm>
            <a:off x="-313678" y="1258147"/>
            <a:ext cx="1052224" cy="927135"/>
          </a:xfrm>
          <a:prstGeom prst="triangle">
            <a:avLst>
              <a:gd name="adj" fmla="val 50084"/>
            </a:avLst>
          </a:prstGeom>
          <a:solidFill>
            <a:srgbClr val="FC5E24">
              <a:alpha val="437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DFF5036A-8736-3AB0-EBE1-92CC7B679EB7}"/>
              </a:ext>
            </a:extLst>
          </p:cNvPr>
          <p:cNvSpPr/>
          <p:nvPr/>
        </p:nvSpPr>
        <p:spPr>
          <a:xfrm rot="10800000">
            <a:off x="6088706" y="4691136"/>
            <a:ext cx="3477531" cy="2185281"/>
          </a:xfrm>
          <a:prstGeom prst="parallelogram">
            <a:avLst>
              <a:gd name="adj" fmla="val 54957"/>
            </a:avLst>
          </a:prstGeom>
          <a:solidFill>
            <a:srgbClr val="FC5E24">
              <a:alpha val="54000"/>
            </a:srgbClr>
          </a:solidFill>
          <a:ln>
            <a:noFill/>
          </a:ln>
          <a:effectLst>
            <a:outerShdw blurRad="76200" dist="38100" dir="10800000" sx="102000" sy="102000" algn="r" rotWithShape="0">
              <a:prstClr val="black">
                <a:alpha val="1786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TextBox 34">
            <a:extLst>
              <a:ext uri="{FF2B5EF4-FFF2-40B4-BE49-F238E27FC236}">
                <a16:creationId xmlns:a16="http://schemas.microsoft.com/office/drawing/2014/main" id="{339F284C-89B5-BD76-2EF4-F0D9E00F205B}"/>
              </a:ext>
            </a:extLst>
          </p:cNvPr>
          <p:cNvSpPr txBox="1"/>
          <p:nvPr/>
        </p:nvSpPr>
        <p:spPr>
          <a:xfrm>
            <a:off x="9708918" y="6410978"/>
            <a:ext cx="2148329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7185" rIns="0">
            <a:spAutoFit/>
          </a:bodyPr>
          <a:lstStyle>
            <a:lvl1pPr defTabSz="914400">
              <a:defRPr sz="1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</a:lstStyle>
          <a:p>
            <a:pPr algn="r" defTabSz="743682" hangingPunct="0"/>
            <a:r>
              <a:rPr lang="es-CL" sz="900" kern="0">
                <a:latin typeface="Overpass"/>
              </a:rPr>
              <a:t>Fecha: [DD/MM/AAAA]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92C7BAF-49F6-F2C6-DF7F-690830B2BD23}"/>
              </a:ext>
            </a:extLst>
          </p:cNvPr>
          <p:cNvSpPr txBox="1"/>
          <p:nvPr/>
        </p:nvSpPr>
        <p:spPr>
          <a:xfrm>
            <a:off x="9971405" y="5416234"/>
            <a:ext cx="2739834" cy="307777"/>
          </a:xfrm>
          <a:prstGeom prst="rect">
            <a:avLst/>
          </a:prstGeom>
        </p:spPr>
        <p:txBody>
          <a:bodyPr wrap="square" rIns="0">
            <a:spAutoFit/>
          </a:bodyPr>
          <a:lstStyle>
            <a:defPPr>
              <a:defRPr lang="es-ES"/>
            </a:defPPr>
            <a:lvl1pPr algn="r">
              <a:defRPr sz="1400">
                <a:solidFill>
                  <a:srgbClr val="FC5E24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l"/>
            <a:r>
              <a:rPr lang="es-CL">
                <a:sym typeface="Overpass"/>
              </a:rPr>
              <a:t>Plazo: [XX] MESES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588B5D7-E250-D25D-5E44-FCF4333313F8}"/>
              </a:ext>
            </a:extLst>
          </p:cNvPr>
          <p:cNvSpPr txBox="1"/>
          <p:nvPr/>
        </p:nvSpPr>
        <p:spPr>
          <a:xfrm>
            <a:off x="9961780" y="5724011"/>
            <a:ext cx="2739834" cy="307777"/>
          </a:xfrm>
          <a:prstGeom prst="rect">
            <a:avLst/>
          </a:prstGeom>
        </p:spPr>
        <p:txBody>
          <a:bodyPr wrap="square" rIns="0">
            <a:spAutoFit/>
          </a:bodyPr>
          <a:lstStyle>
            <a:defPPr>
              <a:defRPr lang="es-ES"/>
            </a:defPPr>
            <a:lvl1pPr algn="r">
              <a:defRPr sz="1400">
                <a:solidFill>
                  <a:srgbClr val="FC5E24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l"/>
            <a:r>
              <a:rPr lang="es-CL">
                <a:sym typeface="Overpass"/>
              </a:rPr>
              <a:t>Canon: [XXX] MM CLP</a:t>
            </a: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B919C3E6-3C4B-3FDC-B38B-4D9F4A66C6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61" y="6103767"/>
            <a:ext cx="1435365" cy="708123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8CC42CCA-3A4D-3FD4-ADFA-12EC1A223B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81" y="6248282"/>
            <a:ext cx="1110123" cy="44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32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305" y="0"/>
            <a:ext cx="3284525" cy="1196035"/>
          </a:xfrm>
          <a:custGeom>
            <a:avLst/>
            <a:gdLst/>
            <a:ahLst/>
            <a:cxnLst/>
            <a:rect l="l" t="t" r="r" b="b"/>
            <a:pathLst>
              <a:path w="3284525" h="1196035">
                <a:moveTo>
                  <a:pt x="0" y="0"/>
                </a:moveTo>
                <a:lnTo>
                  <a:pt x="3284525" y="0"/>
                </a:lnTo>
                <a:lnTo>
                  <a:pt x="944575" y="1196035"/>
                </a:lnTo>
                <a:close/>
              </a:path>
            </a:pathLst>
          </a:cu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3779215"/>
            <a:ext cx="2270455" cy="3078785"/>
          </a:xfrm>
          <a:custGeom>
            <a:avLst/>
            <a:gdLst/>
            <a:ahLst/>
            <a:cxnLst/>
            <a:rect l="l" t="t" r="r" b="b"/>
            <a:pathLst>
              <a:path w="2270455" h="3078785">
                <a:moveTo>
                  <a:pt x="0" y="0"/>
                </a:moveTo>
                <a:lnTo>
                  <a:pt x="2270455" y="3078785"/>
                </a:lnTo>
                <a:lnTo>
                  <a:pt x="0" y="3078785"/>
                </a:lnTo>
                <a:close/>
              </a:path>
            </a:pathLst>
          </a:cu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9814255" y="5585155"/>
            <a:ext cx="2370125" cy="1272845"/>
          </a:xfrm>
          <a:custGeom>
            <a:avLst/>
            <a:gdLst/>
            <a:ahLst/>
            <a:cxnLst/>
            <a:rect l="l" t="t" r="r" b="b"/>
            <a:pathLst>
              <a:path w="2370125" h="1272845">
                <a:moveTo>
                  <a:pt x="2370125" y="0"/>
                </a:moveTo>
                <a:lnTo>
                  <a:pt x="0" y="1272845"/>
                </a:lnTo>
                <a:lnTo>
                  <a:pt x="2370125" y="1272845"/>
                </a:lnTo>
                <a:close/>
              </a:path>
            </a:pathLst>
          </a:cu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6400800" y="274320"/>
            <a:ext cx="53565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RESUMEN</a:t>
            </a:r>
            <a:endParaRPr lang="en-US" sz="2600">
              <a:solidFill>
                <a:srgbClr val="323232"/>
              </a:solidFill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932688" y="2423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">
                <a:solidFill>
                  <a:srgbClr val="595959"/>
                </a:solidFill>
                <a:latin typeface="Overpass"/>
                <a:ea typeface="Overpass"/>
                <a:cs typeface="Overpass"/>
              </a:rPr>
              <a:t>PROPUESTA DE INVERSIÓN — Código [CÓDIGO DEL PROCESO]</a:t>
            </a:r>
            <a:endParaRPr lang="en-US" sz="1150">
              <a:solidFill>
                <a:srgbClr val="595959"/>
              </a:solidFill>
            </a:endParaRPr>
          </a:p>
        </p:txBody>
      </p:sp>
      <p:sp>
        <p:nvSpPr>
          <p:cNvPr id="28" name="Shape 25"/>
          <p:cNvSpPr/>
          <p:nvPr/>
        </p:nvSpPr>
        <p:spPr>
          <a:xfrm>
            <a:off x="891540" y="2720340"/>
            <a:ext cx="103555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6"/>
          <p:cNvSpPr/>
          <p:nvPr/>
        </p:nvSpPr>
        <p:spPr>
          <a:xfrm>
            <a:off x="838505" y="2720340"/>
            <a:ext cx="53035" cy="329184"/>
          </a:xfrm>
          <a:prstGeom prst="rect">
            <a:avLst/>
          </a:pr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 txBox="1"/>
          <p:nvPr/>
        </p:nvSpPr>
        <p:spPr>
          <a:xfrm>
            <a:off x="1240841" y="27203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Cliente</a:t>
            </a:r>
            <a:endParaRPr lang="en-US" sz="1150">
              <a:solidFill>
                <a:srgbClr val="323232"/>
              </a:solidFill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3161081" y="2756916"/>
            <a:ext cx="7884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[Mandante] — [División / Gerencia / Superintendencia] ([Faena / Instalación])</a:t>
            </a:r>
            <a:endParaRPr lang="en-US" sz="1100">
              <a:solidFill>
                <a:srgbClr val="404040"/>
              </a:solidFill>
            </a:endParaRPr>
          </a:p>
        </p:txBody>
      </p:sp>
      <p:sp>
        <p:nvSpPr>
          <p:cNvPr id="32" name="Shape 29"/>
          <p:cNvSpPr/>
          <p:nvPr/>
        </p:nvSpPr>
        <p:spPr>
          <a:xfrm>
            <a:off x="891540" y="3122676"/>
            <a:ext cx="103555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0"/>
          <p:cNvSpPr/>
          <p:nvPr/>
        </p:nvSpPr>
        <p:spPr>
          <a:xfrm>
            <a:off x="838505" y="3122676"/>
            <a:ext cx="53035" cy="329184"/>
          </a:xfrm>
          <a:prstGeom prst="rect">
            <a:avLst/>
          </a:pr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1"/>
          <p:cNvSpPr txBox="1"/>
          <p:nvPr/>
        </p:nvSpPr>
        <p:spPr>
          <a:xfrm>
            <a:off x="1240841" y="312267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Compañía Licitante</a:t>
            </a:r>
            <a:endParaRPr lang="en-US" sz="1150">
              <a:solidFill>
                <a:srgbClr val="323232"/>
              </a:solidFill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3161081" y="3159252"/>
            <a:ext cx="7884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[Empresa operativa licitante: Steel SpA / Berliam / Walvis / Quintrax]</a:t>
            </a:r>
            <a:endParaRPr lang="en-US" sz="1100">
              <a:solidFill>
                <a:srgbClr val="404040"/>
              </a:solidFill>
            </a:endParaRPr>
          </a:p>
        </p:txBody>
      </p:sp>
      <p:sp>
        <p:nvSpPr>
          <p:cNvPr id="36" name="Shape 33"/>
          <p:cNvSpPr/>
          <p:nvPr/>
        </p:nvSpPr>
        <p:spPr>
          <a:xfrm>
            <a:off x="891540" y="3525012"/>
            <a:ext cx="103555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4"/>
          <p:cNvSpPr/>
          <p:nvPr/>
        </p:nvSpPr>
        <p:spPr>
          <a:xfrm>
            <a:off x="838505" y="3525012"/>
            <a:ext cx="53035" cy="1005840"/>
          </a:xfrm>
          <a:prstGeom prst="rect">
            <a:avLst/>
          </a:pr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Text 35"/>
          <p:cNvSpPr txBox="1"/>
          <p:nvPr/>
        </p:nvSpPr>
        <p:spPr>
          <a:xfrm>
            <a:off x="1240841" y="352501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Alcance</a:t>
            </a:r>
            <a:endParaRPr lang="en-US" sz="1150">
              <a:solidFill>
                <a:srgbClr val="323232"/>
              </a:solidFill>
            </a:endParaRPr>
          </a:p>
        </p:txBody>
      </p:sp>
      <p:sp>
        <p:nvSpPr>
          <p:cNvPr id="39" name="Text 36"/>
          <p:cNvSpPr txBox="1"/>
          <p:nvPr/>
        </p:nvSpPr>
        <p:spPr>
          <a:xfrm>
            <a:off x="3161081" y="3561588"/>
            <a:ext cx="788487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[Resumen del alcance: áreas o unidades cubiertas, servicios permanentes y no permanentes, equipos principales, servicios spot o extraordinarios]</a:t>
            </a:r>
            <a:endParaRPr lang="en-US" sz="1100">
              <a:solidFill>
                <a:srgbClr val="404040"/>
              </a:solidFill>
            </a:endParaRPr>
          </a:p>
        </p:txBody>
      </p:sp>
      <p:sp>
        <p:nvSpPr>
          <p:cNvPr id="40" name="Shape 37"/>
          <p:cNvSpPr/>
          <p:nvPr/>
        </p:nvSpPr>
        <p:spPr>
          <a:xfrm>
            <a:off x="891540" y="4604004"/>
            <a:ext cx="103555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Shape 38"/>
          <p:cNvSpPr/>
          <p:nvPr/>
        </p:nvSpPr>
        <p:spPr>
          <a:xfrm>
            <a:off x="838505" y="4604004"/>
            <a:ext cx="53035" cy="329184"/>
          </a:xfrm>
          <a:prstGeom prst="rect">
            <a:avLst/>
          </a:pr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39"/>
          <p:cNvSpPr txBox="1"/>
          <p:nvPr/>
        </p:nvSpPr>
        <p:spPr>
          <a:xfrm>
            <a:off x="1240841" y="46040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Duración</a:t>
            </a:r>
            <a:endParaRPr lang="en-US" sz="1150">
              <a:solidFill>
                <a:srgbClr val="323232"/>
              </a:solidFill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3161081" y="4640580"/>
            <a:ext cx="7884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[XX] meses · [fecha de inicio] – [fecha de término] (adjudicación estimada [fecha])</a:t>
            </a:r>
            <a:endParaRPr lang="en-US" sz="1100">
              <a:solidFill>
                <a:srgbClr val="404040"/>
              </a:solidFill>
            </a:endParaRPr>
          </a:p>
        </p:txBody>
      </p:sp>
      <p:sp>
        <p:nvSpPr>
          <p:cNvPr id="44" name="Shape 41"/>
          <p:cNvSpPr/>
          <p:nvPr/>
        </p:nvSpPr>
        <p:spPr>
          <a:xfrm>
            <a:off x="891540" y="5006340"/>
            <a:ext cx="103555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Shape 42"/>
          <p:cNvSpPr/>
          <p:nvPr/>
        </p:nvSpPr>
        <p:spPr>
          <a:xfrm>
            <a:off x="838505" y="5006340"/>
            <a:ext cx="53035" cy="530352"/>
          </a:xfrm>
          <a:prstGeom prst="rect">
            <a:avLst/>
          </a:prstGeom>
          <a:solidFill>
            <a:srgbClr val="FC5E24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3"/>
          <p:cNvSpPr txBox="1"/>
          <p:nvPr/>
        </p:nvSpPr>
        <p:spPr>
          <a:xfrm>
            <a:off x="1240841" y="500634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Remuneración</a:t>
            </a:r>
            <a:endParaRPr lang="en-US" sz="1150">
              <a:solidFill>
                <a:srgbClr val="323232"/>
              </a:solidFill>
            </a:endParaRPr>
          </a:p>
        </p:txBody>
      </p:sp>
      <p:sp>
        <p:nvSpPr>
          <p:cNvPr id="47" name="Text 44"/>
          <p:cNvSpPr txBox="1"/>
          <p:nvPr/>
        </p:nvSpPr>
        <p:spPr>
          <a:xfrm>
            <a:off x="3161081" y="5042916"/>
            <a:ext cx="78848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err="1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[Modalidad de pago (precios unitarios, suma alzada, etc.) · reajuste · descuentos por KPI · garantías (fiel cumplimiento / seriedad)]</a:t>
            </a:r>
            <a:endParaRPr lang="en-US" sz="1100">
              <a:solidFill>
                <a:srgbClr val="404040"/>
              </a:solidFill>
            </a:endParaRPr>
          </a:p>
        </p:txBody>
      </p:sp>
      <p:sp>
        <p:nvSpPr>
          <p:cNvPr id="48" name="Shape 45"/>
          <p:cNvSpPr/>
          <p:nvPr/>
        </p:nvSpPr>
        <p:spPr>
          <a:xfrm>
            <a:off x="891540" y="5609844"/>
            <a:ext cx="103555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Shape 46"/>
          <p:cNvSpPr/>
          <p:nvPr/>
        </p:nvSpPr>
        <p:spPr>
          <a:xfrm>
            <a:off x="838505" y="5609844"/>
            <a:ext cx="53035" cy="329184"/>
          </a:xfrm>
          <a:prstGeom prst="rect">
            <a:avLst/>
          </a:prstGeom>
          <a:solidFill>
            <a:srgbClr val="FC5E24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7"/>
          <p:cNvSpPr txBox="1"/>
          <p:nvPr/>
        </p:nvSpPr>
        <p:spPr>
          <a:xfrm>
            <a:off x="1240841" y="56098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KPI's / Multas</a:t>
            </a:r>
            <a:endParaRPr lang="en-US" sz="1150">
              <a:solidFill>
                <a:srgbClr val="323232"/>
              </a:solidFill>
            </a:endParaRPr>
          </a:p>
        </p:txBody>
      </p:sp>
      <p:sp>
        <p:nvSpPr>
          <p:cNvPr id="51" name="Text 48"/>
          <p:cNvSpPr txBox="1"/>
          <p:nvPr/>
        </p:nvSpPr>
        <p:spPr>
          <a:xfrm>
            <a:off x="3161081" y="5646420"/>
            <a:ext cx="7884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[XX]% ingresos fijos · [XX]% en riesgo por KPI · [X,XX]% de descuento estimado</a:t>
            </a:r>
            <a:endParaRPr lang="en-US" sz="1100">
              <a:solidFill>
                <a:srgbClr val="404040"/>
              </a:solidFill>
            </a:endParaRPr>
          </a:p>
        </p:txBody>
      </p:sp>
      <p:sp>
        <p:nvSpPr>
          <p:cNvPr id="52" name="Shape 49"/>
          <p:cNvSpPr/>
          <p:nvPr/>
        </p:nvSpPr>
        <p:spPr>
          <a:xfrm>
            <a:off x="891540" y="6012180"/>
            <a:ext cx="103555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Shape 50"/>
          <p:cNvSpPr/>
          <p:nvPr/>
        </p:nvSpPr>
        <p:spPr>
          <a:xfrm>
            <a:off x="838505" y="6012180"/>
            <a:ext cx="53035" cy="329184"/>
          </a:xfrm>
          <a:prstGeom prst="rect">
            <a:avLst/>
          </a:prstGeom>
          <a:solidFill>
            <a:srgbClr val="FC5E24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4" name="Text 51"/>
          <p:cNvSpPr txBox="1"/>
          <p:nvPr/>
        </p:nvSpPr>
        <p:spPr>
          <a:xfrm>
            <a:off x="1240841" y="60121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Canon / Dotación</a:t>
            </a:r>
            <a:endParaRPr lang="en-US" sz="1150">
              <a:solidFill>
                <a:srgbClr val="323232"/>
              </a:solidFill>
            </a:endParaRPr>
          </a:p>
        </p:txBody>
      </p:sp>
      <p:sp>
        <p:nvSpPr>
          <p:cNvPr id="55" name="Text 52"/>
          <p:cNvSpPr txBox="1"/>
          <p:nvPr/>
        </p:nvSpPr>
        <p:spPr>
          <a:xfrm>
            <a:off x="3161081" y="6048756"/>
            <a:ext cx="7884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[XXX] MM CLP mensual · [XX] FTE ([XX] directos / [X] indirectos) · [X.XXX] hombres-mes de contrato</a:t>
            </a:r>
            <a:endParaRPr lang="en-US" sz="1100">
              <a:solidFill>
                <a:srgbClr val="404040"/>
              </a:solidFill>
            </a:endParaRPr>
          </a:p>
        </p:txBody>
      </p:sp>
      <p:sp>
        <p:nvSpPr>
          <p:cNvPr id="100" name="Tarjeta 1"/>
          <p:cNvSpPr/>
          <p:nvPr/>
        </p:nvSpPr>
        <p:spPr>
          <a:xfrm>
            <a:off x="679207" y="901224"/>
            <a:ext cx="2557346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BFBFBF"/>
            </a:solidFill>
          </a:ln>
        </p:spPr>
        <p:txBody>
          <a:bodyPr wrap="square" lIns="108000" tIns="72000" rIns="108000" bIns="7200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s-CL" sz="900">
                <a:solidFill>
                  <a:srgbClr val="595959"/>
                </a:solidFill>
                <a:latin typeface="Overpass"/>
                <a:cs typeface="Overpass"/>
              </a:rPr>
              <a:t>VALOR CONTRATO</a:t>
            </a:r>
          </a:p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62626"/>
                </a:solidFill>
                <a:latin typeface="Overpass"/>
                <a:cs typeface="Overpass"/>
              </a:rPr>
              <a:t>[XX.XXX] MM CLP</a:t>
            </a:r>
          </a:p>
          <a:p>
            <a:pPr algn="l">
              <a:spcAft>
                <a:spcPts val="0"/>
              </a:spcAft>
            </a:pPr>
            <a:r>
              <a:rPr lang="es-CL" sz="800">
                <a:solidFill>
                  <a:srgbClr val="595959"/>
                </a:solidFill>
                <a:latin typeface="Overpass"/>
                <a:cs typeface="Overpass"/>
              </a:rPr>
              <a:t>[XX] meses · [XXX] MM CLP mensual</a:t>
            </a:r>
          </a:p>
        </p:txBody>
      </p:sp>
      <p:sp>
        <p:nvSpPr>
          <p:cNvPr id="101" name="Tarjeta 2"/>
          <p:cNvSpPr/>
          <p:nvPr/>
        </p:nvSpPr>
        <p:spPr>
          <a:xfrm>
            <a:off x="3419433" y="901224"/>
            <a:ext cx="2557346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BFBFBF"/>
            </a:solidFill>
          </a:ln>
        </p:spPr>
        <p:txBody>
          <a:bodyPr wrap="square" lIns="108000" tIns="72000" rIns="108000" bIns="7200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s-CL" sz="900">
                <a:solidFill>
                  <a:srgbClr val="595959"/>
                </a:solidFill>
                <a:latin typeface="Overpass"/>
                <a:cs typeface="Overpass"/>
              </a:rPr>
              <a:t>EBITDA / EBIT</a:t>
            </a:r>
          </a:p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62626"/>
                </a:solidFill>
                <a:latin typeface="Overpass"/>
                <a:cs typeface="Overpass"/>
              </a:rPr>
              <a:t>[XX,X%] / [X,X%]</a:t>
            </a:r>
          </a:p>
          <a:p>
            <a:pPr algn="l">
              <a:spcAft>
                <a:spcPts val="0"/>
              </a:spcAft>
            </a:pPr>
            <a:r>
              <a:rPr lang="es-CL" sz="800">
                <a:solidFill>
                  <a:srgbClr val="595959"/>
                </a:solidFill>
                <a:latin typeface="Overpass"/>
                <a:cs typeface="Overpass"/>
              </a:rPr>
              <a:t>Margen bruto [XX,X%]</a:t>
            </a:r>
          </a:p>
        </p:txBody>
      </p:sp>
      <p:sp>
        <p:nvSpPr>
          <p:cNvPr id="102" name="Tarjeta 3"/>
          <p:cNvSpPr/>
          <p:nvPr/>
        </p:nvSpPr>
        <p:spPr>
          <a:xfrm>
            <a:off x="6159659" y="901224"/>
            <a:ext cx="2557346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BFBFBF"/>
            </a:solidFill>
          </a:ln>
        </p:spPr>
        <p:txBody>
          <a:bodyPr wrap="square" lIns="108000" tIns="72000" rIns="108000" bIns="7200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s-CL" sz="900">
                <a:solidFill>
                  <a:srgbClr val="595959"/>
                </a:solidFill>
                <a:latin typeface="Overpass"/>
                <a:cs typeface="Overpass"/>
              </a:rPr>
              <a:t>IRR POST IMPUESTOS</a:t>
            </a:r>
          </a:p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62626"/>
                </a:solidFill>
                <a:latin typeface="Overpass"/>
                <a:cs typeface="Overpass"/>
              </a:rPr>
              <a:t>[XX,X%]</a:t>
            </a:r>
          </a:p>
          <a:p>
            <a:pPr algn="l">
              <a:spcAft>
                <a:spcPts val="0"/>
              </a:spcAft>
            </a:pPr>
            <a:r>
              <a:rPr lang="es-CL" sz="800">
                <a:solidFill>
                  <a:srgbClr val="595959"/>
                </a:solidFill>
                <a:latin typeface="Overpass"/>
                <a:cs typeface="Overpass"/>
              </a:rPr>
              <a:t>Payback [X,X] años · TIR AI [XX,X%]</a:t>
            </a:r>
          </a:p>
        </p:txBody>
      </p:sp>
      <p:sp>
        <p:nvSpPr>
          <p:cNvPr id="103" name="Tarjeta 4"/>
          <p:cNvSpPr/>
          <p:nvPr/>
        </p:nvSpPr>
        <p:spPr>
          <a:xfrm>
            <a:off x="8899885" y="901224"/>
            <a:ext cx="2557346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BFBFBF"/>
            </a:solidFill>
          </a:ln>
        </p:spPr>
        <p:txBody>
          <a:bodyPr wrap="square" lIns="108000" tIns="72000" rIns="108000" bIns="7200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s-CL" sz="900">
                <a:solidFill>
                  <a:srgbClr val="595959"/>
                </a:solidFill>
                <a:latin typeface="Overpass"/>
                <a:cs typeface="Overpass"/>
              </a:rPr>
              <a:t>CAPEX</a:t>
            </a:r>
          </a:p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62626"/>
                </a:solidFill>
                <a:latin typeface="Overpass"/>
                <a:cs typeface="Overpass"/>
              </a:rPr>
              <a:t>[X.XXX] MM CLP</a:t>
            </a:r>
          </a:p>
          <a:p>
            <a:pPr algn="l">
              <a:spcAft>
                <a:spcPts val="0"/>
              </a:spcAft>
            </a:pPr>
            <a:r>
              <a:rPr lang="es-CL" sz="800">
                <a:solidFill>
                  <a:srgbClr val="595959"/>
                </a:solidFill>
                <a:latin typeface="Overpass"/>
                <a:cs typeface="Overpass"/>
              </a:rPr>
              <a:t>VR [XXX] MM · Renting [XXX] MM</a:t>
            </a:r>
          </a:p>
        </p:txBody>
      </p:sp>
    </p:spTree>
    <p:extLst>
      <p:ext uri="{BB962C8B-B14F-4D97-AF65-F5344CB8AC3E}">
        <p14:creationId xmlns:p14="http://schemas.microsoft.com/office/powerpoint/2010/main" val="103138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1937840-8EF1-4275-A5B4-6AD7E5C2F1AF}"/>
              </a:ext>
            </a:extLst>
          </p:cNvPr>
          <p:cNvSpPr txBox="1"/>
          <p:nvPr/>
        </p:nvSpPr>
        <p:spPr>
          <a:xfrm>
            <a:off x="3962400" y="228600"/>
            <a:ext cx="7924800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r"/>
            <a:r>
              <a:rPr lang="es-CL" sz="2800">
                <a:solidFill>
                  <a:srgbClr val="323232"/>
                </a:solidFill>
              </a:rPr>
              <a:t>DESAFÍO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E412B1D-2FD3-4046-96E2-A9CA67F1C26D}"/>
              </a:ext>
            </a:extLst>
          </p:cNvPr>
          <p:cNvSpPr/>
          <p:nvPr/>
        </p:nvSpPr>
        <p:spPr>
          <a:xfrm>
            <a:off x="838200" y="1066800"/>
            <a:ext cx="10160000" cy="30226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760704" dist="38100" dir="10800000" sx="101000" sy="101000" algn="r" rotWithShape="0">
              <a:prstClr val="black">
                <a:alpha val="40943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>
              <a:lnSpc>
                <a:spcPts val="1800"/>
              </a:lnSpc>
              <a:spcAft>
                <a:spcPts val="900"/>
              </a:spcAft>
              <a:buNone/>
            </a:pPr>
            <a:r>
              <a:rPr lang="es-ES" sz="1400" b="1">
                <a:solidFill>
                  <a:srgbClr val="595959"/>
                </a:solidFill>
              </a:rPr>
              <a:t>CLIENTE: [MANDANTE] · [DIVISIÓN / ÁREA] · LICITACIÓN </a:t>
            </a:r>
            <a:r>
              <a:rPr lang="es-ES" sz="1400" b="1" err="1">
                <a:solidFill>
                  <a:srgbClr val="595959"/>
                </a:solidFill>
              </a:rPr>
              <a:t>N°</a:t>
            </a:r>
            <a:r>
              <a:rPr lang="es-ES" sz="1400" b="1">
                <a:solidFill>
                  <a:srgbClr val="595959"/>
                </a:solidFill>
              </a:rPr>
              <a:t> [N° DE LICITACIÓN]</a:t>
            </a:r>
          </a:p>
          <a:p>
            <a:pPr>
              <a:lnSpc>
                <a:spcPts val="1600"/>
              </a:lnSpc>
              <a:spcAft>
                <a:spcPts val="800"/>
              </a:spcAft>
              <a:buNone/>
            </a:pPr>
            <a:r>
              <a:rPr lang="es-ES" sz="1400" b="1">
                <a:solidFill>
                  <a:srgbClr val="BD461B"/>
                </a:solidFill>
              </a:rPr>
              <a:t>Operación: </a:t>
            </a:r>
            <a:r>
              <a:rPr lang="es-ES" sz="1400">
                <a:solidFill>
                  <a:srgbClr val="323232"/>
                </a:solidFill>
              </a:rPr>
              <a:t>[Descripción de la operación del cliente y de las unidades o áreas que cubre el servicio.]</a:t>
            </a:r>
          </a:p>
          <a:p>
            <a:pPr>
              <a:lnSpc>
                <a:spcPts val="1600"/>
              </a:lnSpc>
              <a:spcAft>
                <a:spcPts val="800"/>
              </a:spcAft>
              <a:buNone/>
            </a:pPr>
            <a:r>
              <a:rPr lang="es-ES" sz="1400" b="1">
                <a:solidFill>
                  <a:srgbClr val="BD461B"/>
                </a:solidFill>
              </a:rPr>
              <a:t>Propiedad y gestión: </a:t>
            </a:r>
            <a:r>
              <a:rPr lang="es-ES" sz="1400">
                <a:solidFill>
                  <a:srgbClr val="323232"/>
                </a:solidFill>
              </a:rPr>
              <a:t>[Propietario del activo; quién administra el contrato (gerencia, superintendencia, administrador de contrato).]</a:t>
            </a:r>
          </a:p>
          <a:p>
            <a:pPr>
              <a:lnSpc>
                <a:spcPts val="1600"/>
              </a:lnSpc>
              <a:spcAft>
                <a:spcPts val="800"/>
              </a:spcAft>
              <a:buNone/>
            </a:pPr>
            <a:r>
              <a:rPr lang="es-ES" sz="1400" b="1">
                <a:solidFill>
                  <a:srgbClr val="BD461B"/>
                </a:solidFill>
              </a:rPr>
              <a:t>Ubicación geográfica: </a:t>
            </a:r>
            <a:r>
              <a:rPr lang="es-ES" sz="1400">
                <a:solidFill>
                  <a:srgbClr val="323232"/>
                </a:solidFill>
              </a:rPr>
              <a:t>[Comuna, región y altitud; condiciones del recinto (acceso restringido, polvo, riesgos específicos).]</a:t>
            </a:r>
          </a:p>
          <a:p>
            <a:pPr>
              <a:lnSpc>
                <a:spcPts val="1600"/>
              </a:lnSpc>
              <a:spcAft>
                <a:spcPts val="800"/>
              </a:spcAft>
              <a:buNone/>
            </a:pPr>
            <a:r>
              <a:rPr lang="es-ES" sz="1400" b="1">
                <a:solidFill>
                  <a:srgbClr val="BD461B"/>
                </a:solidFill>
              </a:rPr>
              <a:t>Modalidad: </a:t>
            </a:r>
            <a:r>
              <a:rPr lang="es-ES" sz="1400">
                <a:solidFill>
                  <a:srgbClr val="323232"/>
                </a:solidFill>
              </a:rPr>
              <a:t>[Tipo de contrato (precios unitarios / suma alzada), estados de pago, plazo, reajuste, garantías y gastos reembolsables.]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B9A0DD5-EB9D-4747-82BA-B84B9D5169B4}"/>
              </a:ext>
            </a:extLst>
          </p:cNvPr>
          <p:cNvSpPr/>
          <p:nvPr/>
        </p:nvSpPr>
        <p:spPr>
          <a:xfrm>
            <a:off x="838200" y="1066800"/>
            <a:ext cx="50800" cy="3022600"/>
          </a:xfrm>
          <a:prstGeom prst="rect">
            <a:avLst/>
          </a:prstGeom>
          <a:solidFill>
            <a:srgbClr val="FC5E24"/>
          </a:solidFill>
          <a:ln w="25400" cap="flat" cmpd="sng" algn="ctr">
            <a:noFill/>
            <a:prstDash val="solid"/>
          </a:ln>
          <a:effectLst>
            <a:outerShdw blurRad="760704" dist="38100" dir="10800000" sx="101000" sy="101000" algn="r" rotWithShape="0">
              <a:prstClr val="black">
                <a:alpha val="40943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algn="ctr"/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71F8E15-2D2A-4E7B-BF43-C7BB9B3BCC9E}"/>
              </a:ext>
            </a:extLst>
          </p:cNvPr>
          <p:cNvSpPr/>
          <p:nvPr/>
        </p:nvSpPr>
        <p:spPr>
          <a:xfrm>
            <a:off x="838200" y="4191000"/>
            <a:ext cx="10160000" cy="22606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760704" dist="38100" dir="10800000" sx="101000" sy="101000" algn="r" rotWithShape="0">
              <a:prstClr val="black">
                <a:alpha val="40943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>
              <a:lnSpc>
                <a:spcPts val="1800"/>
              </a:lnSpc>
              <a:spcAft>
                <a:spcPts val="900"/>
              </a:spcAft>
              <a:buNone/>
            </a:pPr>
            <a:r>
              <a:rPr lang="es-ES" sz="1400" b="1">
                <a:solidFill>
                  <a:srgbClr val="595959"/>
                </a:solidFill>
              </a:rPr>
              <a:t>ALCANCE DEL SERVICIO</a:t>
            </a:r>
          </a:p>
          <a:p>
            <a:pPr>
              <a:lnSpc>
                <a:spcPts val="1600"/>
              </a:lnSpc>
              <a:spcAft>
                <a:spcPts val="800"/>
              </a:spcAft>
              <a:buNone/>
            </a:pPr>
            <a:r>
              <a:rPr lang="es-ES" sz="1400" b="1">
                <a:solidFill>
                  <a:srgbClr val="BD461B"/>
                </a:solidFill>
              </a:rPr>
              <a:t>Incluye: </a:t>
            </a:r>
            <a:r>
              <a:rPr lang="es-ES" sz="1400">
                <a:solidFill>
                  <a:srgbClr val="323232"/>
                </a:solidFill>
              </a:rPr>
              <a:t>[Servicios permanentes, no permanentes, apoyos y servicios extraordinarios incluidos en el alcance.]</a:t>
            </a:r>
          </a:p>
          <a:p>
            <a:pPr>
              <a:lnSpc>
                <a:spcPts val="1600"/>
              </a:lnSpc>
              <a:spcAft>
                <a:spcPts val="800"/>
              </a:spcAft>
              <a:buNone/>
            </a:pPr>
            <a:r>
              <a:rPr lang="es-ES" sz="1400" b="1">
                <a:solidFill>
                  <a:srgbClr val="BD461B"/>
                </a:solidFill>
              </a:rPr>
              <a:t>Equipos y dotación: </a:t>
            </a:r>
            <a:r>
              <a:rPr lang="es-ES" sz="1400">
                <a:solidFill>
                  <a:srgbClr val="323232"/>
                </a:solidFill>
              </a:rPr>
              <a:t>[N° de personas (directas e indirectas), personal por turno, jornada, flota y equipos, disponibilidad mínima.]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2F8F327-1860-46A4-A66E-364DF5C37FE3}"/>
              </a:ext>
            </a:extLst>
          </p:cNvPr>
          <p:cNvSpPr/>
          <p:nvPr/>
        </p:nvSpPr>
        <p:spPr>
          <a:xfrm>
            <a:off x="838200" y="4191000"/>
            <a:ext cx="50800" cy="2260600"/>
          </a:xfrm>
          <a:prstGeom prst="rect">
            <a:avLst/>
          </a:prstGeom>
          <a:solidFill>
            <a:srgbClr val="FC5E24"/>
          </a:solidFill>
          <a:ln w="25400" cap="flat" cmpd="sng" algn="ctr">
            <a:noFill/>
            <a:prstDash val="solid"/>
          </a:ln>
          <a:effectLst>
            <a:outerShdw blurRad="760704" dist="38100" dir="10800000" sx="101000" sy="101000" algn="r" rotWithShape="0">
              <a:prstClr val="black">
                <a:alpha val="40943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3391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3495" y="0"/>
            <a:ext cx="3454603" cy="2011680"/>
          </a:xfrm>
          <a:custGeom>
            <a:avLst/>
            <a:gdLst/>
            <a:ahLst/>
            <a:cxnLst/>
            <a:rect l="l" t="t" r="r" b="b"/>
            <a:pathLst>
              <a:path w="3454603" h="2011680">
                <a:moveTo>
                  <a:pt x="0" y="0"/>
                </a:moveTo>
                <a:lnTo>
                  <a:pt x="3454603" y="0"/>
                </a:lnTo>
                <a:lnTo>
                  <a:pt x="930859" y="2011680"/>
                </a:lnTo>
                <a:close/>
              </a:path>
            </a:pathLst>
          </a:cu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4191610"/>
            <a:ext cx="2012594" cy="2666390"/>
          </a:xfrm>
          <a:custGeom>
            <a:avLst/>
            <a:gdLst/>
            <a:ahLst/>
            <a:cxnLst/>
            <a:rect l="l" t="t" r="r" b="b"/>
            <a:pathLst>
              <a:path w="2012594" h="2666390">
                <a:moveTo>
                  <a:pt x="0" y="0"/>
                </a:moveTo>
                <a:lnTo>
                  <a:pt x="2012594" y="2666390"/>
                </a:lnTo>
                <a:lnTo>
                  <a:pt x="0" y="2666390"/>
                </a:lnTo>
                <a:close/>
              </a:path>
            </a:pathLst>
          </a:cu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9992563" y="5650992"/>
            <a:ext cx="2187245" cy="1207008"/>
          </a:xfrm>
          <a:custGeom>
            <a:avLst/>
            <a:gdLst/>
            <a:ahLst/>
            <a:cxnLst/>
            <a:rect l="l" t="t" r="r" b="b"/>
            <a:pathLst>
              <a:path w="2187245" h="1207008">
                <a:moveTo>
                  <a:pt x="2187245" y="0"/>
                </a:moveTo>
                <a:lnTo>
                  <a:pt x="0" y="1207008"/>
                </a:lnTo>
                <a:lnTo>
                  <a:pt x="2187245" y="1207008"/>
                </a:lnTo>
                <a:close/>
              </a:path>
            </a:pathLst>
          </a:cu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6949440" y="146304"/>
            <a:ext cx="5148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2000"/>
              </a:lnSpc>
              <a:buNone/>
            </a:pPr>
            <a:r>
              <a:rPr lang="es-ES" sz="160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PRINCIPALES ACTIVIDADES</a:t>
            </a:r>
          </a:p>
          <a:p>
            <a:pPr marL="0" indent="0" algn="r">
              <a:lnSpc>
                <a:spcPct val="112000"/>
              </a:lnSpc>
              <a:buNone/>
            </a:pPr>
            <a:r>
              <a:rPr lang="es-ES" sz="160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[INSTALACIÓN / FAENA] · [MANDANTE]</a:t>
            </a:r>
          </a:p>
        </p:txBody>
      </p:sp>
      <p:sp>
        <p:nvSpPr>
          <p:cNvPr id="7" name="Shape 4"/>
          <p:cNvSpPr/>
          <p:nvPr/>
        </p:nvSpPr>
        <p:spPr>
          <a:xfrm>
            <a:off x="1828800" y="1041400"/>
            <a:ext cx="2641600" cy="2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762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1828800" y="1041400"/>
            <a:ext cx="50800" cy="2540000"/>
          </a:xfrm>
          <a:prstGeom prst="rect">
            <a:avLst/>
          </a:pr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6"/>
          <p:cNvSpPr txBox="1"/>
          <p:nvPr/>
        </p:nvSpPr>
        <p:spPr>
          <a:xfrm>
            <a:off x="1917700" y="2565400"/>
            <a:ext cx="246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ES" sz="150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[Actividad 1]</a:t>
            </a:r>
          </a:p>
        </p:txBody>
      </p:sp>
      <p:sp>
        <p:nvSpPr>
          <p:cNvPr id="11" name="Text 7"/>
          <p:cNvSpPr txBox="1"/>
          <p:nvPr/>
        </p:nvSpPr>
        <p:spPr>
          <a:xfrm>
            <a:off x="1917700" y="3073400"/>
            <a:ext cx="2463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E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[Descripción breve: frecuencia, turnos, equipos, disponibilidad.]</a:t>
            </a:r>
          </a:p>
        </p:txBody>
      </p:sp>
      <p:sp>
        <p:nvSpPr>
          <p:cNvPr id="12" name="Shape 8"/>
          <p:cNvSpPr/>
          <p:nvPr/>
        </p:nvSpPr>
        <p:spPr>
          <a:xfrm>
            <a:off x="4775200" y="1041400"/>
            <a:ext cx="2641600" cy="2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762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9"/>
          <p:cNvSpPr/>
          <p:nvPr/>
        </p:nvSpPr>
        <p:spPr>
          <a:xfrm>
            <a:off x="4775200" y="1041400"/>
            <a:ext cx="50800" cy="2540000"/>
          </a:xfrm>
          <a:prstGeom prst="rect">
            <a:avLst/>
          </a:pr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0"/>
          <p:cNvSpPr txBox="1"/>
          <p:nvPr/>
        </p:nvSpPr>
        <p:spPr>
          <a:xfrm>
            <a:off x="4864100" y="2565400"/>
            <a:ext cx="246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ES" sz="150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[Actividad 2]</a:t>
            </a:r>
          </a:p>
        </p:txBody>
      </p:sp>
      <p:sp>
        <p:nvSpPr>
          <p:cNvPr id="16" name="Text 11"/>
          <p:cNvSpPr txBox="1"/>
          <p:nvPr/>
        </p:nvSpPr>
        <p:spPr>
          <a:xfrm>
            <a:off x="4864100" y="3073400"/>
            <a:ext cx="2463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E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[Descripción breve: frecuencia, turnos, equipos, disponibilidad.]</a:t>
            </a:r>
          </a:p>
        </p:txBody>
      </p:sp>
      <p:sp>
        <p:nvSpPr>
          <p:cNvPr id="17" name="Shape 12"/>
          <p:cNvSpPr/>
          <p:nvPr/>
        </p:nvSpPr>
        <p:spPr>
          <a:xfrm>
            <a:off x="7721600" y="1041400"/>
            <a:ext cx="2641600" cy="2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762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3"/>
          <p:cNvSpPr/>
          <p:nvPr/>
        </p:nvSpPr>
        <p:spPr>
          <a:xfrm>
            <a:off x="7721600" y="1041400"/>
            <a:ext cx="50800" cy="2540000"/>
          </a:xfrm>
          <a:prstGeom prst="rect">
            <a:avLst/>
          </a:pr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4"/>
          <p:cNvSpPr txBox="1"/>
          <p:nvPr/>
        </p:nvSpPr>
        <p:spPr>
          <a:xfrm>
            <a:off x="7810500" y="2565400"/>
            <a:ext cx="246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ES" sz="150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[Actividad 3]</a:t>
            </a:r>
          </a:p>
        </p:txBody>
      </p:sp>
      <p:sp>
        <p:nvSpPr>
          <p:cNvPr id="21" name="Text 15"/>
          <p:cNvSpPr txBox="1"/>
          <p:nvPr/>
        </p:nvSpPr>
        <p:spPr>
          <a:xfrm>
            <a:off x="7810500" y="3073400"/>
            <a:ext cx="2463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E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[Descripción breve: frecuencia, turnos, equipos, disponibilidad.]</a:t>
            </a:r>
          </a:p>
        </p:txBody>
      </p:sp>
      <p:sp>
        <p:nvSpPr>
          <p:cNvPr id="22" name="Shape 16"/>
          <p:cNvSpPr/>
          <p:nvPr/>
        </p:nvSpPr>
        <p:spPr>
          <a:xfrm>
            <a:off x="3302000" y="3886200"/>
            <a:ext cx="2641600" cy="2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762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17"/>
          <p:cNvSpPr/>
          <p:nvPr/>
        </p:nvSpPr>
        <p:spPr>
          <a:xfrm>
            <a:off x="3302000" y="3886200"/>
            <a:ext cx="50800" cy="2540000"/>
          </a:xfrm>
          <a:prstGeom prst="rect">
            <a:avLst/>
          </a:pr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18"/>
          <p:cNvSpPr txBox="1"/>
          <p:nvPr/>
        </p:nvSpPr>
        <p:spPr>
          <a:xfrm>
            <a:off x="3390900" y="5410200"/>
            <a:ext cx="246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ES" sz="150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[Actividad 4]</a:t>
            </a:r>
          </a:p>
        </p:txBody>
      </p:sp>
      <p:sp>
        <p:nvSpPr>
          <p:cNvPr id="26" name="Text 19"/>
          <p:cNvSpPr txBox="1"/>
          <p:nvPr/>
        </p:nvSpPr>
        <p:spPr>
          <a:xfrm>
            <a:off x="3390900" y="5918200"/>
            <a:ext cx="2463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E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[Descripción breve: frecuencia, turnos, equipos, disponibilidad.]</a:t>
            </a:r>
          </a:p>
        </p:txBody>
      </p:sp>
      <p:sp>
        <p:nvSpPr>
          <p:cNvPr id="27" name="Shape 20"/>
          <p:cNvSpPr/>
          <p:nvPr/>
        </p:nvSpPr>
        <p:spPr>
          <a:xfrm>
            <a:off x="6248400" y="3886200"/>
            <a:ext cx="2641600" cy="2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762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Shape 21"/>
          <p:cNvSpPr/>
          <p:nvPr/>
        </p:nvSpPr>
        <p:spPr>
          <a:xfrm>
            <a:off x="6248400" y="3886200"/>
            <a:ext cx="50800" cy="2540000"/>
          </a:xfrm>
          <a:prstGeom prst="rect">
            <a:avLst/>
          </a:pr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2"/>
          <p:cNvSpPr txBox="1"/>
          <p:nvPr/>
        </p:nvSpPr>
        <p:spPr>
          <a:xfrm>
            <a:off x="6337300" y="5410200"/>
            <a:ext cx="246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ES" sz="150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[Actividad 5]</a:t>
            </a:r>
          </a:p>
        </p:txBody>
      </p:sp>
      <p:sp>
        <p:nvSpPr>
          <p:cNvPr id="31" name="Text 23"/>
          <p:cNvSpPr txBox="1"/>
          <p:nvPr/>
        </p:nvSpPr>
        <p:spPr>
          <a:xfrm>
            <a:off x="6337300" y="5918200"/>
            <a:ext cx="246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s-E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[Descripción breve: frecuencia, turnos, equipos, disponibilidad.]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7CB05FF-6945-8701-6074-701FB1BE0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600" y="1041400"/>
            <a:ext cx="2590800" cy="14732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7DC63C1-898A-8B1C-5905-4A66F8B97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041400"/>
            <a:ext cx="2590800" cy="14732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653A5B0-B31C-D5C0-9583-C7202D7C6C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041400"/>
            <a:ext cx="2590800" cy="147320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9F2D30C-85C4-695C-9419-88B4BB863A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0" y="3886200"/>
            <a:ext cx="2590800" cy="14732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28DB4D3E-6841-4F29-07FA-4CECBFDF8E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9200" y="3886200"/>
            <a:ext cx="259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413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863840" y="-411480"/>
            <a:ext cx="1371600" cy="2286000"/>
          </a:xfrm>
          <a:prstGeom prst="chevron">
            <a:avLst/>
          </a:prstGeom>
          <a:solidFill>
            <a:srgbClr val="FDD3C3"/>
          </a:solidFill>
          <a:ln w="12700">
            <a:solidFill>
              <a:srgbClr val="FDD3C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 rot="5400000">
            <a:off x="8732520" y="-548640"/>
            <a:ext cx="1600200" cy="2468880"/>
          </a:xfrm>
          <a:prstGeom prst="chevron">
            <a:avLst/>
          </a:prstGeom>
          <a:solidFill>
            <a:srgbClr val="FA9A78">
              <a:alpha val="75000"/>
            </a:srgbClr>
          </a:solidFill>
          <a:ln w="12700">
            <a:solidFill>
              <a:srgbClr val="FA9A7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9144000" y="0"/>
            <a:ext cx="3047695" cy="65836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035040" y="18288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>
                <a:solidFill>
                  <a:srgbClr val="1A1A1A"/>
                </a:solidFill>
                <a:latin typeface="Overpass"/>
                <a:ea typeface="Overpass"/>
                <a:cs typeface="Overpass"/>
              </a:rPr>
              <a:t>KPI Y MULTAS</a:t>
            </a:r>
            <a:endParaRPr lang="en-US" sz="3200"/>
          </a:p>
        </p:txBody>
      </p:sp>
      <p:sp>
        <p:nvSpPr>
          <p:cNvPr id="18" name="s2">
            <a:extLst>
              <a:ext uri="{FF2B5EF4-FFF2-40B4-BE49-F238E27FC236}">
                <a16:creationId xmlns:a16="http://schemas.microsoft.com/office/drawing/2014/main" id="{0471C44F-CFB5-5E35-8003-D5DAB8B363EB}"/>
              </a:ext>
            </a:extLst>
          </p:cNvPr>
          <p:cNvSpPr txBox="1"/>
          <p:nvPr/>
        </p:nvSpPr>
        <p:spPr>
          <a:xfrm>
            <a:off x="0" y="0"/>
            <a:ext cx="12192000" cy="1020000"/>
          </a:xfrm>
          <a:prstGeom prst="rect">
            <a:avLst/>
          </a:prstGeom>
          <a:noFill/>
          <a:ln>
            <a:noFill/>
          </a:ln>
        </p:spPr>
        <p:txBody>
          <a:bodyPr wrap="square" lIns="430000" tIns="36576" rIns="430000" bIns="36576" anchor="ctr"/>
          <a:lstStyle/>
          <a:p>
            <a:r>
              <a:rPr lang="es-CL" sz="2000" b="1">
                <a:solidFill>
                  <a:schemeClr val="tx1"/>
                </a:solidFill>
              </a:rPr>
              <a:t>Modelo de evaluación</a:t>
            </a:r>
          </a:p>
          <a:p>
            <a:r>
              <a:rPr lang="es-CL" sz="1200">
                <a:solidFill>
                  <a:schemeClr val="tx1">
                    <a:alpha val="70000"/>
                  </a:schemeClr>
                </a:solidFill>
              </a:rPr>
              <a:t>[EMPRESA] [SERVICIO] [INSTALACIÓN]</a:t>
            </a:r>
          </a:p>
          <a:p>
            <a:r>
              <a:rPr lang="es-CL" sz="950">
                <a:solidFill>
                  <a:schemeClr val="tx1">
                    <a:alpha val="55000"/>
                  </a:schemeClr>
                </a:solidFill>
              </a:rPr>
              <a:t>[MANDANTE]  ·  [XX] meses  ·  [XXX] MM$ CLP por estado de pago  ·  5.000 iteraciones</a:t>
            </a:r>
          </a:p>
        </p:txBody>
      </p:sp>
      <p:sp>
        <p:nvSpPr>
          <p:cNvPr id="22" name="s3">
            <a:extLst>
              <a:ext uri="{FF2B5EF4-FFF2-40B4-BE49-F238E27FC236}">
                <a16:creationId xmlns:a16="http://schemas.microsoft.com/office/drawing/2014/main" id="{53199F8D-6917-4382-6EEC-88474B874BF1}"/>
              </a:ext>
            </a:extLst>
          </p:cNvPr>
          <p:cNvSpPr txBox="1"/>
          <p:nvPr/>
        </p:nvSpPr>
        <p:spPr>
          <a:xfrm>
            <a:off x="0" y="1020000"/>
            <a:ext cx="12192000" cy="5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91440" tIns="36576" rIns="91440" bIns="36576" anchor="t"/>
          <a:lstStyle/>
          <a:p>
            <a:endParaRPr lang="es-CL"/>
          </a:p>
        </p:txBody>
      </p:sp>
      <p:sp>
        <p:nvSpPr>
          <p:cNvPr id="24" name="s4">
            <a:extLst>
              <a:ext uri="{FF2B5EF4-FFF2-40B4-BE49-F238E27FC236}">
                <a16:creationId xmlns:a16="http://schemas.microsoft.com/office/drawing/2014/main" id="{3B1242A2-1F8A-ED43-0EEF-C2BD53B8D2B6}"/>
              </a:ext>
            </a:extLst>
          </p:cNvPr>
          <p:cNvSpPr txBox="1"/>
          <p:nvPr/>
        </p:nvSpPr>
        <p:spPr>
          <a:xfrm>
            <a:off x="0" y="1020000"/>
            <a:ext cx="3400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36576" rIns="91440" bIns="36576" anchor="t"/>
          <a:lstStyle/>
          <a:p>
            <a:endParaRPr lang="es-CL"/>
          </a:p>
        </p:txBody>
      </p:sp>
      <p:sp>
        <p:nvSpPr>
          <p:cNvPr id="26" name="s5">
            <a:extLst>
              <a:ext uri="{FF2B5EF4-FFF2-40B4-BE49-F238E27FC236}">
                <a16:creationId xmlns:a16="http://schemas.microsoft.com/office/drawing/2014/main" id="{3AC17126-2F27-C761-489E-3D70DF2663A2}"/>
              </a:ext>
            </a:extLst>
          </p:cNvPr>
          <p:cNvSpPr txBox="1"/>
          <p:nvPr/>
        </p:nvSpPr>
        <p:spPr>
          <a:xfrm>
            <a:off x="430000" y="1200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/>
          <a:lstStyle/>
          <a:p>
            <a:r>
              <a:rPr lang="es-CL" sz="1100" b="1">
                <a:solidFill>
                  <a:schemeClr val="accent1"/>
                </a:solidFill>
              </a:rPr>
              <a:t>Datos del contrato</a:t>
            </a:r>
          </a:p>
        </p:txBody>
      </p:sp>
      <p:graphicFrame>
        <p:nvGraphicFramePr>
          <p:cNvPr id="28" name="t6">
            <a:extLst>
              <a:ext uri="{FF2B5EF4-FFF2-40B4-BE49-F238E27FC236}">
                <a16:creationId xmlns:a16="http://schemas.microsoft.com/office/drawing/2014/main" id="{9F201CEB-DB2E-3645-3597-0885D199BB82}"/>
              </a:ext>
            </a:extLst>
          </p:cNvPr>
          <p:cNvGraphicFramePr/>
          <p:nvPr/>
        </p:nvGraphicFramePr>
        <p:xfrm>
          <a:off x="430000" y="1470000"/>
          <a:ext cx="4100000" cy="1500000"/>
        </p:xfrm>
        <a:graphic>
          <a:graphicData uri="http://schemas.openxmlformats.org/drawingml/2006/table">
            <a:tbl>
              <a:tblPr/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000">
                <a:tc>
                  <a:txBody>
                    <a:bodyPr/>
                    <a:lstStyle/>
                    <a:p>
                      <a:r>
                        <a:rPr lang="es-CL" sz="1000" b="1">
                          <a:solidFill>
                            <a:schemeClr val="tx1"/>
                          </a:solidFill>
                        </a:rPr>
                        <a:t>Concepto</a:t>
                      </a:r>
                    </a:p>
                  </a:txBody>
                  <a:tcPr marL="60960" marR="60960" marT="22860" marB="22860" anchor="ctr"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00" b="1">
                          <a:solidFill>
                            <a:schemeClr val="tx1"/>
                          </a:solidFill>
                        </a:rPr>
                        <a:t>Valor</a:t>
                      </a:r>
                    </a:p>
                  </a:txBody>
                  <a:tcPr marL="60960" marR="60960" marT="22860" marB="22860" anchor="ctr"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r>
                        <a:rPr lang="es-CL" sz="1000">
                          <a:solidFill>
                            <a:schemeClr val="tx1"/>
                          </a:solidFill>
                        </a:rPr>
                        <a:t>Meses de contrato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>
                          <a:solidFill>
                            <a:schemeClr val="tx1"/>
                          </a:solidFill>
                          <a:latin typeface="Overpass"/>
                        </a:rPr>
                        <a:t>[XX]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r>
                        <a:rPr lang="es-CL" sz="1000">
                          <a:solidFill>
                            <a:schemeClr val="tx1"/>
                          </a:solidFill>
                        </a:rPr>
                        <a:t>Semilla (reproducible)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>
                          <a:solidFill>
                            <a:schemeClr val="tx1"/>
                          </a:solidFill>
                          <a:latin typeface="Overpass"/>
                        </a:rPr>
                        <a:t>2026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r>
                        <a:rPr lang="es-CL" sz="1000">
                          <a:solidFill>
                            <a:schemeClr val="tx1"/>
                          </a:solidFill>
                        </a:rPr>
                        <a:t>Iteraciones simuladas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>
                          <a:solidFill>
                            <a:schemeClr val="tx1"/>
                          </a:solidFill>
                          <a:latin typeface="Overpass"/>
                        </a:rPr>
                        <a:t>5.000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r>
                        <a:rPr lang="es-CL" sz="1000">
                          <a:solidFill>
                            <a:schemeClr val="tx1"/>
                          </a:solidFill>
                        </a:rPr>
                        <a:t>EDP mensual (suma de los montos)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>
                          <a:solidFill>
                            <a:schemeClr val="tx1"/>
                          </a:solidFill>
                          <a:latin typeface="Overpass"/>
                        </a:rPr>
                        <a:t>[XXX.XXX.XXX]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r>
                        <a:rPr lang="es-CL" sz="1000">
                          <a:solidFill>
                            <a:schemeClr val="tx1"/>
                          </a:solidFill>
                        </a:rPr>
                        <a:t>Valor del contrato (EDP × meses)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>
                          <a:solidFill>
                            <a:schemeClr val="tx1"/>
                          </a:solidFill>
                          <a:latin typeface="Overpass"/>
                        </a:rPr>
                        <a:t>[X.XXX.XXX.XXX]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s7">
            <a:extLst>
              <a:ext uri="{FF2B5EF4-FFF2-40B4-BE49-F238E27FC236}">
                <a16:creationId xmlns:a16="http://schemas.microsoft.com/office/drawing/2014/main" id="{96D685F3-33E0-D823-C935-4BFB4FFB8FED}"/>
              </a:ext>
            </a:extLst>
          </p:cNvPr>
          <p:cNvSpPr txBox="1"/>
          <p:nvPr/>
        </p:nvSpPr>
        <p:spPr>
          <a:xfrm>
            <a:off x="430000" y="3100000"/>
            <a:ext cx="41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/>
          <a:lstStyle/>
          <a:p>
            <a:r>
              <a:rPr lang="es-CL" sz="1100" b="1">
                <a:solidFill>
                  <a:schemeClr val="accent2"/>
                </a:solidFill>
                <a:effectLst>
                  <a:outerShdw blurRad="31750" dist="25400" dir="2700000" algn="tl" rotWithShape="0">
                    <a:srgbClr val="000000">
                      <a:alpha val="32000"/>
                    </a:srgbClr>
                  </a:outerShdw>
                </a:effectLst>
              </a:rPr>
              <a:t>Montos afectos a pago</a:t>
            </a:r>
          </a:p>
        </p:txBody>
      </p:sp>
      <p:graphicFrame>
        <p:nvGraphicFramePr>
          <p:cNvPr id="32" name="t8">
            <a:extLst>
              <a:ext uri="{FF2B5EF4-FFF2-40B4-BE49-F238E27FC236}">
                <a16:creationId xmlns:a16="http://schemas.microsoft.com/office/drawing/2014/main" id="{02B47EAA-47F4-AA64-334A-5571F559C641}"/>
              </a:ext>
            </a:extLst>
          </p:cNvPr>
          <p:cNvGraphicFramePr/>
          <p:nvPr/>
        </p:nvGraphicFramePr>
        <p:xfrm>
          <a:off x="430000" y="3370000"/>
          <a:ext cx="4100000" cy="1820040"/>
        </p:xfrm>
        <a:graphic>
          <a:graphicData uri="http://schemas.openxmlformats.org/drawingml/2006/table">
            <a:tbl>
              <a:tblPr/>
              <a:tblGrid>
                <a:gridCol w="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000">
                <a:tc>
                  <a:txBody>
                    <a:bodyPr/>
                    <a:lstStyle/>
                    <a:p>
                      <a:r>
                        <a:rPr lang="es-CL" sz="1000" b="1">
                          <a:solidFill>
                            <a:schemeClr val="tx1"/>
                          </a:solidFill>
                        </a:rPr>
                        <a:t>Var</a:t>
                      </a:r>
                    </a:p>
                  </a:txBody>
                  <a:tcPr marL="60960" marR="60960" marT="22860" marB="22860" anchor="ctr"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00" b="1">
                          <a:solidFill>
                            <a:schemeClr val="tx1"/>
                          </a:solidFill>
                        </a:rPr>
                        <a:t>Concepto</a:t>
                      </a:r>
                    </a:p>
                  </a:txBody>
                  <a:tcPr marL="60960" marR="60960" marT="22860" marB="22860" anchor="ctr"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00" b="1">
                          <a:solidFill>
                            <a:schemeClr val="tx1"/>
                          </a:solidFill>
                        </a:rPr>
                        <a:t>Monto mensual (CLP)</a:t>
                      </a:r>
                    </a:p>
                  </a:txBody>
                  <a:tcPr marL="60960" marR="60960" marT="22860" marB="22860" anchor="ctr"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r>
                        <a:rPr lang="es-CL" sz="1000" b="1">
                          <a:solidFill>
                            <a:schemeClr val="accent2"/>
                          </a:solidFill>
                          <a:effectLst>
                            <a:outerShdw blurRad="31750" dist="25400" dir="2700000" algn="tl" rotWithShape="0">
                              <a:srgbClr val="000000">
                                <a:alpha val="32000"/>
                              </a:srgbClr>
                            </a:outerShdw>
                          </a:effectLst>
                          <a:latin typeface="Overpass"/>
                        </a:rPr>
                        <a:t>M1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00">
                          <a:solidFill>
                            <a:schemeClr val="tx1"/>
                          </a:solidFill>
                        </a:rPr>
                        <a:t>[Servicio / ítem afecto 1]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>
                          <a:solidFill>
                            <a:schemeClr val="tx1"/>
                          </a:solidFill>
                          <a:latin typeface="Overpass"/>
                        </a:rPr>
                        <a:t>[XXX.XXX.XXX]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r>
                        <a:rPr lang="es-CL" sz="1000" b="1">
                          <a:solidFill>
                            <a:schemeClr val="accent2"/>
                          </a:solidFill>
                          <a:effectLst>
                            <a:outerShdw blurRad="31750" dist="25400" dir="2700000" algn="tl" rotWithShape="0">
                              <a:srgbClr val="000000">
                                <a:alpha val="32000"/>
                              </a:srgbClr>
                            </a:outerShdw>
                          </a:effectLst>
                          <a:latin typeface="Overpass"/>
                        </a:rPr>
                        <a:t>M2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00">
                          <a:solidFill>
                            <a:schemeClr val="tx1"/>
                          </a:solidFill>
                        </a:rPr>
                        <a:t>[Servicio / ítem afecto 2]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>
                          <a:solidFill>
                            <a:schemeClr val="tx1"/>
                          </a:solidFill>
                          <a:latin typeface="Overpass"/>
                        </a:rPr>
                        <a:t>[XXX.XXX.XXX]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r>
                        <a:rPr lang="es-CL" sz="1000" b="1">
                          <a:solidFill>
                            <a:schemeClr val="accent2"/>
                          </a:solidFill>
                          <a:effectLst>
                            <a:outerShdw blurRad="31750" dist="25400" dir="2700000" algn="tl" rotWithShape="0">
                              <a:srgbClr val="000000">
                                <a:alpha val="32000"/>
                              </a:srgbClr>
                            </a:outerShdw>
                          </a:effectLst>
                          <a:latin typeface="Overpass"/>
                        </a:rPr>
                        <a:t>M3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00">
                          <a:solidFill>
                            <a:schemeClr val="tx1"/>
                          </a:solidFill>
                        </a:rPr>
                        <a:t>[Servicio / ítem afecto 3]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>
                          <a:solidFill>
                            <a:schemeClr val="tx1"/>
                          </a:solidFill>
                          <a:latin typeface="Overpass"/>
                        </a:rPr>
                        <a:t>[XXX.XXX.XXX]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r>
                        <a:rPr lang="es-CL" sz="1000" b="1">
                          <a:solidFill>
                            <a:schemeClr val="accent2"/>
                          </a:solidFill>
                          <a:effectLst>
                            <a:outerShdw blurRad="31750" dist="25400" dir="2700000" algn="tl" rotWithShape="0">
                              <a:srgbClr val="000000">
                                <a:alpha val="32000"/>
                              </a:srgbClr>
                            </a:outerShdw>
                          </a:effectLst>
                          <a:latin typeface="Overpass"/>
                        </a:rPr>
                        <a:t>M4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00">
                          <a:solidFill>
                            <a:schemeClr val="tx1"/>
                          </a:solidFill>
                        </a:rPr>
                        <a:t>[Servicio / ítem afecto 4]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>
                          <a:solidFill>
                            <a:schemeClr val="tx1"/>
                          </a:solidFill>
                          <a:latin typeface="Overpass"/>
                        </a:rPr>
                        <a:t>[XXX.XXX.XXX]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r>
                        <a:rPr lang="es-CL" sz="1000" b="1">
                          <a:solidFill>
                            <a:schemeClr val="accent2"/>
                          </a:solidFill>
                          <a:effectLst>
                            <a:outerShdw blurRad="31750" dist="25400" dir="2700000" algn="tl" rotWithShape="0">
                              <a:srgbClr val="000000">
                                <a:alpha val="32000"/>
                              </a:srgbClr>
                            </a:outerShdw>
                          </a:effectLst>
                          <a:latin typeface="Overpass"/>
                        </a:rPr>
                        <a:t>M5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00">
                          <a:solidFill>
                            <a:schemeClr val="tx1"/>
                          </a:solidFill>
                        </a:rPr>
                        <a:t>[Servicio / ítem afecto 5]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>
                          <a:solidFill>
                            <a:schemeClr val="tx1"/>
                          </a:solidFill>
                          <a:latin typeface="Overpass"/>
                        </a:rPr>
                        <a:t>[XXX.XXX.XXX]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endParaRPr/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00" b="1">
                          <a:solidFill>
                            <a:schemeClr val="tx1"/>
                          </a:solidFill>
                        </a:rPr>
                        <a:t>EDP mensual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1">
                          <a:solidFill>
                            <a:schemeClr val="tx1"/>
                          </a:solidFill>
                          <a:latin typeface="Overpass"/>
                        </a:rPr>
                        <a:t>[XXX.XXX.XXX]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s9">
            <a:extLst>
              <a:ext uri="{FF2B5EF4-FFF2-40B4-BE49-F238E27FC236}">
                <a16:creationId xmlns:a16="http://schemas.microsoft.com/office/drawing/2014/main" id="{5DB22706-A217-CE2B-618A-1CEE0701B0EF}"/>
              </a:ext>
            </a:extLst>
          </p:cNvPr>
          <p:cNvSpPr txBox="1"/>
          <p:nvPr/>
        </p:nvSpPr>
        <p:spPr>
          <a:xfrm>
            <a:off x="4780000" y="1200000"/>
            <a:ext cx="698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/>
          <a:lstStyle/>
          <a:p>
            <a:r>
              <a:rPr lang="es-CL" sz="1100" b="1">
                <a:solidFill>
                  <a:schemeClr val="accent2"/>
                </a:solidFill>
                <a:effectLst>
                  <a:outerShdw blurRad="31750" dist="25400" dir="2700000" algn="tl" rotWithShape="0">
                    <a:srgbClr val="000000">
                      <a:alpha val="32000"/>
                    </a:srgbClr>
                  </a:outerShdw>
                </a:effectLst>
              </a:rPr>
              <a:t>Fórmula del descuento (referencia)</a:t>
            </a:r>
          </a:p>
        </p:txBody>
      </p:sp>
      <p:sp>
        <p:nvSpPr>
          <p:cNvPr id="36" name="s10">
            <a:extLst>
              <a:ext uri="{FF2B5EF4-FFF2-40B4-BE49-F238E27FC236}">
                <a16:creationId xmlns:a16="http://schemas.microsoft.com/office/drawing/2014/main" id="{3B0FBD2D-FB8B-DC46-9913-C2DA7F9E94CE}"/>
              </a:ext>
            </a:extLst>
          </p:cNvPr>
          <p:cNvSpPr txBox="1"/>
          <p:nvPr/>
        </p:nvSpPr>
        <p:spPr>
          <a:xfrm>
            <a:off x="4780000" y="1470000"/>
            <a:ext cx="125000" cy="966216"/>
          </a:xfrm>
          <a:custGeom>
            <a:avLst/>
            <a:gdLst/>
            <a:ahLst/>
            <a:cxnLst/>
            <a:rect l="0" t="0" r="125000" b="966216"/>
            <a:pathLst>
              <a:path w="125000" h="966216">
                <a:moveTo>
                  <a:pt x="125000" y="0"/>
                </a:moveTo>
                <a:lnTo>
                  <a:pt x="62500" y="0"/>
                </a:lnTo>
                <a:arcTo wR="62500" hR="62500" stAng="-5400000" swAng="-5400000"/>
                <a:lnTo>
                  <a:pt x="0" y="903716"/>
                </a:lnTo>
                <a:arcTo wR="62500" hR="62500" stAng="10800000" swAng="-5400000"/>
                <a:lnTo>
                  <a:pt x="125000" y="9662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lIns="91440" tIns="36576" rIns="91440" bIns="36576" anchor="t"/>
          <a:lstStyle/>
          <a:p>
            <a:endParaRPr lang="es-CL"/>
          </a:p>
        </p:txBody>
      </p:sp>
      <p:sp>
        <p:nvSpPr>
          <p:cNvPr id="38" name="s11">
            <a:extLst>
              <a:ext uri="{FF2B5EF4-FFF2-40B4-BE49-F238E27FC236}">
                <a16:creationId xmlns:a16="http://schemas.microsoft.com/office/drawing/2014/main" id="{93B9092E-5B64-B186-6C70-1E8D54B54A3B}"/>
              </a:ext>
            </a:extLst>
          </p:cNvPr>
          <p:cNvSpPr txBox="1"/>
          <p:nvPr/>
        </p:nvSpPr>
        <p:spPr>
          <a:xfrm>
            <a:off x="4905000" y="1470000"/>
            <a:ext cx="6857000" cy="966216"/>
          </a:xfrm>
          <a:custGeom>
            <a:avLst/>
            <a:gdLst/>
            <a:ahLst/>
            <a:cxnLst/>
            <a:rect l="0" t="0" r="6857000" b="966216"/>
            <a:pathLst>
              <a:path w="6857000" h="966216">
                <a:moveTo>
                  <a:pt x="0" y="0"/>
                </a:moveTo>
                <a:lnTo>
                  <a:pt x="6757000" y="0"/>
                </a:lnTo>
                <a:arcTo wR="100000" hR="100000" stAng="-5400000" swAng="5400000"/>
                <a:lnTo>
                  <a:pt x="6857000" y="866216"/>
                </a:lnTo>
                <a:arcTo wR="100000" hR="100000" stAng="0" swAng="5400000"/>
                <a:lnTo>
                  <a:pt x="0" y="9662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lIns="91440" tIns="36576" rIns="91440" bIns="36576" anchor="t"/>
          <a:lstStyle/>
          <a:p>
            <a:endParaRPr lang="es-CL"/>
          </a:p>
        </p:txBody>
      </p:sp>
      <p:sp>
        <p:nvSpPr>
          <p:cNvPr id="40" name="s12">
            <a:extLst>
              <a:ext uri="{FF2B5EF4-FFF2-40B4-BE49-F238E27FC236}">
                <a16:creationId xmlns:a16="http://schemas.microsoft.com/office/drawing/2014/main" id="{65AA4A4B-122E-15D1-1C29-69E7D2C664CA}"/>
              </a:ext>
            </a:extLst>
          </p:cNvPr>
          <p:cNvSpPr txBox="1"/>
          <p:nvPr/>
        </p:nvSpPr>
        <p:spPr>
          <a:xfrm>
            <a:off x="4905000" y="1470000"/>
            <a:ext cx="6857000" cy="966216"/>
          </a:xfrm>
          <a:prstGeom prst="rect">
            <a:avLst/>
          </a:prstGeom>
          <a:noFill/>
          <a:ln>
            <a:noFill/>
          </a:ln>
        </p:spPr>
        <p:txBody>
          <a:bodyPr wrap="square" lIns="114300" tIns="36576" rIns="114300" bIns="36576" anchor="ctr"/>
          <a:lstStyle/>
          <a:p>
            <a:r>
              <a:rPr lang="es-CL" sz="750" b="1">
                <a:solidFill>
                  <a:schemeClr val="tx1">
                    <a:alpha val="62000"/>
                  </a:schemeClr>
                </a:solidFill>
              </a:rPr>
              <a:t>FÓRMULA DEL DESCUENTO</a:t>
            </a:r>
          </a:p>
          <a:p>
            <a:r>
              <a:rPr lang="es-CL" sz="850">
                <a:solidFill>
                  <a:schemeClr val="tx1"/>
                </a:solidFill>
                <a:highlight>
                  <a:srgbClr val="C0C0C0"/>
                </a:highlight>
                <a:latin typeface="Overpass"/>
              </a:rPr>
              <a:t>[Fórmula de descuento según Bases Técnicas / Contrato]</a:t>
            </a:r>
          </a:p>
          <a:p>
            <a:r>
              <a:rPr lang="es-CL" sz="800">
                <a:solidFill>
                  <a:schemeClr val="tx1">
                    <a:alpha val="62000"/>
                  </a:schemeClr>
                </a:solidFill>
              </a:rPr>
              <a:t>Devuelve el monto de descuento en pesos.</a:t>
            </a:r>
          </a:p>
          <a:p>
            <a:r>
              <a:rPr lang="es-CL" sz="800">
                <a:solidFill>
                  <a:schemeClr val="tx1">
                    <a:alpha val="62000"/>
                  </a:schemeClr>
                </a:solidFill>
              </a:rPr>
              <a:t>[Variables: M1…Mn = montos afectos a pago · P1…Pn = ponderaciones · RESk y </a:t>
            </a:r>
            <a:r>
              <a:rPr lang="es-CL" sz="800" err="1">
                <a:solidFill>
                  <a:schemeClr val="tx1">
                    <a:alpha val="62000"/>
                  </a:schemeClr>
                </a:solidFill>
              </a:rPr>
              <a:t>EVk</a:t>
            </a:r>
            <a:r>
              <a:rPr lang="es-CL" sz="800">
                <a:solidFill>
                  <a:schemeClr val="tx1">
                    <a:alpha val="62000"/>
                  </a:schemeClr>
                </a:solidFill>
              </a:rPr>
              <a:t> = resultado y nota del KPI k.]</a:t>
            </a:r>
          </a:p>
        </p:txBody>
      </p:sp>
      <p:sp>
        <p:nvSpPr>
          <p:cNvPr id="42" name="s13">
            <a:extLst>
              <a:ext uri="{FF2B5EF4-FFF2-40B4-BE49-F238E27FC236}">
                <a16:creationId xmlns:a16="http://schemas.microsoft.com/office/drawing/2014/main" id="{8DAA34FD-A924-C284-F466-5978118829C6}"/>
              </a:ext>
            </a:extLst>
          </p:cNvPr>
          <p:cNvSpPr txBox="1"/>
          <p:nvPr/>
        </p:nvSpPr>
        <p:spPr>
          <a:xfrm>
            <a:off x="4780000" y="2556216"/>
            <a:ext cx="698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t"/>
          <a:lstStyle/>
          <a:p>
            <a:r>
              <a:rPr lang="es-CL" sz="1100" b="1">
                <a:solidFill>
                  <a:schemeClr val="accent1"/>
                </a:solidFill>
              </a:rPr>
              <a:t>KPI del contrato (referencia)</a:t>
            </a:r>
          </a:p>
        </p:txBody>
      </p:sp>
      <p:graphicFrame>
        <p:nvGraphicFramePr>
          <p:cNvPr id="44" name="t14">
            <a:extLst>
              <a:ext uri="{FF2B5EF4-FFF2-40B4-BE49-F238E27FC236}">
                <a16:creationId xmlns:a16="http://schemas.microsoft.com/office/drawing/2014/main" id="{5BD40D65-1C7E-CC2A-A291-5A712B5635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5964355"/>
              </p:ext>
            </p:extLst>
          </p:nvPr>
        </p:nvGraphicFramePr>
        <p:xfrm>
          <a:off x="4780000" y="2889716"/>
          <a:ext cx="6982000" cy="3163700"/>
        </p:xfrm>
        <a:graphic>
          <a:graphicData uri="http://schemas.openxmlformats.org/drawingml/2006/table">
            <a:tbl>
              <a:tblPr/>
              <a:tblGrid>
                <a:gridCol w="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2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30000">
                <a:tc>
                  <a:txBody>
                    <a:bodyPr/>
                    <a:lstStyle/>
                    <a:p>
                      <a:r>
                        <a:rPr lang="es-CL" sz="750" b="1">
                          <a:solidFill>
                            <a:schemeClr val="tx1"/>
                          </a:solidFill>
                        </a:rPr>
                        <a:t>Var</a:t>
                      </a:r>
                    </a:p>
                  </a:txBody>
                  <a:tcPr marL="60960" marR="60960" marT="22860" marB="22860" anchor="ctr"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 b="1">
                          <a:solidFill>
                            <a:schemeClr val="tx1"/>
                          </a:solidFill>
                        </a:rPr>
                        <a:t>KPI</a:t>
                      </a:r>
                    </a:p>
                  </a:txBody>
                  <a:tcPr marL="60960" marR="60960" marT="22860" marB="22860" anchor="ctr"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 b="1">
                          <a:solidFill>
                            <a:schemeClr val="tx1"/>
                          </a:solidFill>
                        </a:rPr>
                        <a:t>Grupo</a:t>
                      </a:r>
                    </a:p>
                  </a:txBody>
                  <a:tcPr marL="60960" marR="60960" marT="22860" marB="22860" anchor="ctr"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 b="1">
                          <a:solidFill>
                            <a:schemeClr val="tx1"/>
                          </a:solidFill>
                        </a:rPr>
                        <a:t>Tipo</a:t>
                      </a:r>
                    </a:p>
                  </a:txBody>
                  <a:tcPr marL="60960" marR="60960" marT="22860" marB="22860" anchor="ctr"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 b="1">
                          <a:solidFill>
                            <a:schemeClr val="tx1"/>
                          </a:solidFill>
                        </a:rPr>
                        <a:t>Pond.</a:t>
                      </a:r>
                    </a:p>
                  </a:txBody>
                  <a:tcPr marL="60960" marR="60960" marT="22860" marB="22860" anchor="ctr"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 b="1">
                          <a:solidFill>
                            <a:schemeClr val="tx1"/>
                          </a:solidFill>
                        </a:rPr>
                        <a:t>Qué se mide</a:t>
                      </a:r>
                    </a:p>
                  </a:txBody>
                  <a:tcPr marL="60960" marR="60960" marT="22860" marB="22860" anchor="ctr"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 b="1">
                          <a:solidFill>
                            <a:schemeClr val="tx1"/>
                          </a:solidFill>
                        </a:rPr>
                        <a:t>Medio</a:t>
                      </a:r>
                    </a:p>
                  </a:txBody>
                  <a:tcPr marL="60960" marR="60960" marT="22860" marB="22860" anchor="ctr"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 b="1">
                          <a:solidFill>
                            <a:schemeClr val="tx1"/>
                          </a:solidFill>
                        </a:rPr>
                        <a:t>Desv.</a:t>
                      </a:r>
                    </a:p>
                  </a:txBody>
                  <a:tcPr marL="60960" marR="60960" marT="22860" marB="22860" anchor="ctr"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 b="1">
                          <a:solidFill>
                            <a:schemeClr val="tx1"/>
                          </a:solidFill>
                        </a:rPr>
                        <a:t>EV</a:t>
                      </a:r>
                    </a:p>
                  </a:txBody>
                  <a:tcPr marL="60960" marR="60960" marT="22860" marB="22860" anchor="ctr"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lang="es-CL" sz="750" b="1">
                          <a:solidFill>
                            <a:schemeClr val="accent2"/>
                          </a:solidFill>
                          <a:effectLst>
                            <a:outerShdw blurRad="31750" dist="25400" dir="2700000" algn="tl" rotWithShape="0">
                              <a:srgbClr val="000000">
                                <a:alpha val="32000"/>
                              </a:srgbClr>
                            </a:outerShdw>
                          </a:effectLst>
                          <a:latin typeface="Overpass"/>
                        </a:rPr>
                        <a:t>RES1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800">
                          <a:solidFill>
                            <a:schemeClr val="tx1"/>
                          </a:solidFill>
                        </a:rPr>
                        <a:t>[Nombre del KPI 1]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[HSEQ / OPERACIONES]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[Escalonada / Directa]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[XX%]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[Unidad de medida]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  <a:latin typeface="Overpass"/>
                        </a:rPr>
                        <a:t>[X]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  <a:latin typeface="Overpass"/>
                        </a:rPr>
                        <a:t>[X]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[Escala de evaluación según bases]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s-CL" sz="750" b="1">
                          <a:solidFill>
                            <a:schemeClr val="accent2"/>
                          </a:solidFill>
                          <a:effectLst>
                            <a:outerShdw blurRad="31750" dist="25400" dir="2700000" algn="tl" rotWithShape="0">
                              <a:srgbClr val="000000">
                                <a:alpha val="32000"/>
                              </a:srgbClr>
                            </a:outerShdw>
                          </a:effectLst>
                          <a:latin typeface="Overpass"/>
                        </a:rPr>
                        <a:t>RES2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800" err="1">
                          <a:solidFill>
                            <a:schemeClr val="tx1"/>
                          </a:solidFill>
                        </a:rPr>
                        <a:t>[Nombre del KPI 2]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[HSEQ / OPERACIONES]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[Escalonada / Directa]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[XX%]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[Unidad de medida]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  <a:latin typeface="Overpass"/>
                        </a:rPr>
                        <a:t>[X]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  <a:latin typeface="Overpass"/>
                        </a:rPr>
                        <a:t>[X]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[Igual que RES1 / escala propia]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lang="es-CL" sz="750" b="1">
                          <a:solidFill>
                            <a:schemeClr val="accent2"/>
                          </a:solidFill>
                          <a:effectLst>
                            <a:outerShdw blurRad="31750" dist="25400" dir="2700000" algn="tl" rotWithShape="0">
                              <a:srgbClr val="000000">
                                <a:alpha val="32000"/>
                              </a:srgbClr>
                            </a:outerShdw>
                          </a:effectLst>
                          <a:latin typeface="Overpass"/>
                        </a:rPr>
                        <a:t>RES3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800">
                          <a:solidFill>
                            <a:schemeClr val="tx1"/>
                          </a:solidFill>
                        </a:rPr>
                        <a:t>[Nombre del KPI 3]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[HSEQ / OPERACIONES]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[Escalonada / Directa]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[XX%]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[Unidad de medida]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  <a:latin typeface="Overpass"/>
                        </a:rPr>
                        <a:t>[X]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  <a:latin typeface="Overpass"/>
                        </a:rPr>
                        <a:t>[X]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[Igual que RES1 / escala propia]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lang="es-CL" sz="750" b="1">
                          <a:solidFill>
                            <a:schemeClr val="accent2"/>
                          </a:solidFill>
                          <a:effectLst>
                            <a:outerShdw blurRad="31750" dist="25400" dir="2700000" algn="tl" rotWithShape="0">
                              <a:srgbClr val="000000">
                                <a:alpha val="32000"/>
                              </a:srgbClr>
                            </a:outerShdw>
                          </a:effectLst>
                          <a:latin typeface="Overpass"/>
                        </a:rPr>
                        <a:t>RES4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800">
                          <a:solidFill>
                            <a:schemeClr val="tx1"/>
                          </a:solidFill>
                        </a:rPr>
                        <a:t>[Nombre del KPI 4]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[HSEQ / OPERACIONES]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[Escalonada / Directa]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[XX%]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[Unidad de medida]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  <a:latin typeface="Overpass"/>
                        </a:rPr>
                        <a:t>[X]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  <a:latin typeface="Overpass"/>
                        </a:rPr>
                        <a:t>[X]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[Igual que RES1 / escala propia]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lang="es-CL" sz="750" b="1">
                          <a:solidFill>
                            <a:schemeClr val="accent2"/>
                          </a:solidFill>
                          <a:effectLst>
                            <a:outerShdw blurRad="31750" dist="25400" dir="2700000" algn="tl" rotWithShape="0">
                              <a:srgbClr val="000000">
                                <a:alpha val="32000"/>
                              </a:srgbClr>
                            </a:outerShdw>
                          </a:effectLst>
                          <a:latin typeface="Overpass"/>
                        </a:rPr>
                        <a:t>RES5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800">
                          <a:solidFill>
                            <a:schemeClr val="tx1"/>
                          </a:solidFill>
                        </a:rPr>
                        <a:t>[Nombre del KPI 5]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[HSEQ / OPERACIONES]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[Escalonada / Directa]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[XX%]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[Unidad de medida]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  <a:latin typeface="Overpass"/>
                        </a:rPr>
                        <a:t>[X]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  <a:latin typeface="Overpass"/>
                        </a:rPr>
                        <a:t>[X]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[Igual que RES1 / escala propia]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lang="es-CL" sz="750" b="1">
                          <a:solidFill>
                            <a:schemeClr val="accent2"/>
                          </a:solidFill>
                          <a:effectLst>
                            <a:outerShdw blurRad="31750" dist="25400" dir="2700000" algn="tl" rotWithShape="0">
                              <a:srgbClr val="000000">
                                <a:alpha val="32000"/>
                              </a:srgbClr>
                            </a:outerShdw>
                          </a:effectLst>
                          <a:latin typeface="Overpass"/>
                        </a:rPr>
                        <a:t>RES6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800">
                          <a:solidFill>
                            <a:schemeClr val="tx1"/>
                          </a:solidFill>
                        </a:rPr>
                        <a:t>[Nombre del KPI 6]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[HSEQ / OPERACIONES]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[Escalonada / Directa]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[XX%]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[Unidad de medida]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  <a:latin typeface="Overpass"/>
                        </a:rPr>
                        <a:t>[X]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750">
                          <a:solidFill>
                            <a:schemeClr val="tx1"/>
                          </a:solidFill>
                          <a:latin typeface="Overpass"/>
                        </a:rPr>
                        <a:t>[X]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50">
                          <a:solidFill>
                            <a:schemeClr val="tx1"/>
                          </a:solidFill>
                        </a:rPr>
                        <a:t>[Igual que RES1 / escala propia]</a:t>
                      </a:r>
                    </a:p>
                  </a:txBody>
                  <a:tcPr marL="60960" marR="60960" marT="22860" marB="22860" anchor="ctr">
                    <a:lnT w="6350" cap="flat" cmpd="sng" algn="ctr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chemeClr val="tx1">
                          <a:lumMod val="12000"/>
                          <a:lumOff val="88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969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888F0-2B05-0A16-10BF-A79E4A66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237AD47-E241-6A4D-54DF-3953906E94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063262"/>
            <a:ext cx="12192000" cy="47947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3225" dist="38100" dir="16200000" rotWithShape="0">
              <a:prstClr val="black">
                <a:alpha val="27431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1" name="3 Título">
            <a:extLst>
              <a:ext uri="{FF2B5EF4-FFF2-40B4-BE49-F238E27FC236}">
                <a16:creationId xmlns:a16="http://schemas.microsoft.com/office/drawing/2014/main" id="{87056C92-4529-5048-9610-EF3A2C3F991A}"/>
              </a:ext>
            </a:extLst>
          </p:cNvPr>
          <p:cNvSpPr txBox="1">
            <a:spLocks/>
          </p:cNvSpPr>
          <p:nvPr/>
        </p:nvSpPr>
        <p:spPr>
          <a:xfrm>
            <a:off x="367591" y="686868"/>
            <a:ext cx="5154904" cy="656512"/>
          </a:xfrm>
          <a:prstGeom prst="rect">
            <a:avLst/>
          </a:prstGeom>
        </p:spPr>
        <p:txBody>
          <a:bodyPr lIns="97237" tIns="48619" rIns="97237" bIns="48619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Overpass"/>
                <a:ea typeface="+mj-ea"/>
                <a:cs typeface="+mj-cs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64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Overpass"/>
              <a:ea typeface="Overpass"/>
              <a:cs typeface="Overpass"/>
            </a:endParaRPr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05A1C862-D34D-0D0C-E1C9-6AC04B1A102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423478" y="-12651"/>
            <a:ext cx="5768522" cy="1239656"/>
            <a:chOff x="6423478" y="-12651"/>
            <a:chExt cx="5768522" cy="1239656"/>
          </a:xfrm>
        </p:grpSpPr>
        <p:sp>
          <p:nvSpPr>
            <p:cNvPr id="48" name="Forma libre 47">
              <a:extLst>
                <a:ext uri="{FF2B5EF4-FFF2-40B4-BE49-F238E27FC236}">
                  <a16:creationId xmlns:a16="http://schemas.microsoft.com/office/drawing/2014/main" id="{24B46377-9509-813A-6214-16E383BDAF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077924" y="-12650"/>
              <a:ext cx="1114076" cy="633863"/>
            </a:xfrm>
            <a:custGeom>
              <a:avLst/>
              <a:gdLst>
                <a:gd name="connsiteX0" fmla="*/ 359692 w 1114076"/>
                <a:gd name="connsiteY0" fmla="*/ 0 h 633863"/>
                <a:gd name="connsiteX1" fmla="*/ 1114076 w 1114076"/>
                <a:gd name="connsiteY1" fmla="*/ 0 h 633863"/>
                <a:gd name="connsiteX2" fmla="*/ 1114076 w 1114076"/>
                <a:gd name="connsiteY2" fmla="*/ 633863 h 633863"/>
                <a:gd name="connsiteX3" fmla="*/ 0 w 1114076"/>
                <a:gd name="connsiteY3" fmla="*/ 633863 h 63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4076" h="633863">
                  <a:moveTo>
                    <a:pt x="359692" y="0"/>
                  </a:moveTo>
                  <a:lnTo>
                    <a:pt x="1114076" y="0"/>
                  </a:lnTo>
                  <a:lnTo>
                    <a:pt x="1114076" y="633863"/>
                  </a:lnTo>
                  <a:lnTo>
                    <a:pt x="0" y="633863"/>
                  </a:lnTo>
                  <a:close/>
                </a:path>
              </a:pathLst>
            </a:custGeom>
            <a:solidFill>
              <a:schemeClr val="bg1">
                <a:lumMod val="85000"/>
                <a:alpha val="4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  <p:sp>
          <p:nvSpPr>
            <p:cNvPr id="45" name="Forma libre 44">
              <a:extLst>
                <a:ext uri="{FF2B5EF4-FFF2-40B4-BE49-F238E27FC236}">
                  <a16:creationId xmlns:a16="http://schemas.microsoft.com/office/drawing/2014/main" id="{7279D260-FA1C-934A-12E5-E1BAD756F1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23478" y="-12650"/>
              <a:ext cx="1710512" cy="464602"/>
            </a:xfrm>
            <a:custGeom>
              <a:avLst/>
              <a:gdLst>
                <a:gd name="connsiteX0" fmla="*/ 263643 w 1710512"/>
                <a:gd name="connsiteY0" fmla="*/ 0 h 464602"/>
                <a:gd name="connsiteX1" fmla="*/ 1446869 w 1710512"/>
                <a:gd name="connsiteY1" fmla="*/ 0 h 464602"/>
                <a:gd name="connsiteX2" fmla="*/ 1710512 w 1710512"/>
                <a:gd name="connsiteY2" fmla="*/ 464602 h 464602"/>
                <a:gd name="connsiteX3" fmla="*/ 0 w 1710512"/>
                <a:gd name="connsiteY3" fmla="*/ 464602 h 46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0512" h="464602">
                  <a:moveTo>
                    <a:pt x="263643" y="0"/>
                  </a:moveTo>
                  <a:lnTo>
                    <a:pt x="1446869" y="0"/>
                  </a:lnTo>
                  <a:lnTo>
                    <a:pt x="1710512" y="464602"/>
                  </a:lnTo>
                  <a:lnTo>
                    <a:pt x="0" y="464602"/>
                  </a:lnTo>
                  <a:close/>
                </a:path>
              </a:pathLst>
            </a:custGeom>
            <a:solidFill>
              <a:srgbClr val="F0AE94">
                <a:alpha val="3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  <p:sp>
          <p:nvSpPr>
            <p:cNvPr id="46" name="Forma libre 45">
              <a:extLst>
                <a:ext uri="{FF2B5EF4-FFF2-40B4-BE49-F238E27FC236}">
                  <a16:creationId xmlns:a16="http://schemas.microsoft.com/office/drawing/2014/main" id="{3854A05C-8C90-6146-C3A6-2BE44B4720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 flipH="1">
              <a:off x="7840681" y="-12651"/>
              <a:ext cx="2958075" cy="1239656"/>
            </a:xfrm>
            <a:custGeom>
              <a:avLst/>
              <a:gdLst>
                <a:gd name="connsiteX0" fmla="*/ 0 w 2958075"/>
                <a:gd name="connsiteY0" fmla="*/ 1239656 h 1239656"/>
                <a:gd name="connsiteX1" fmla="*/ 2287161 w 2958075"/>
                <a:gd name="connsiteY1" fmla="*/ 1239656 h 1239656"/>
                <a:gd name="connsiteX2" fmla="*/ 2958075 w 2958075"/>
                <a:gd name="connsiteY2" fmla="*/ 0 h 1239656"/>
                <a:gd name="connsiteX3" fmla="*/ 670914 w 2958075"/>
                <a:gd name="connsiteY3" fmla="*/ 0 h 1239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8075" h="1239656">
                  <a:moveTo>
                    <a:pt x="0" y="1239656"/>
                  </a:moveTo>
                  <a:lnTo>
                    <a:pt x="2287161" y="1239656"/>
                  </a:lnTo>
                  <a:lnTo>
                    <a:pt x="2958075" y="0"/>
                  </a:lnTo>
                  <a:lnTo>
                    <a:pt x="670914" y="0"/>
                  </a:lnTo>
                  <a:close/>
                </a:path>
              </a:pathLst>
            </a:custGeom>
            <a:solidFill>
              <a:srgbClr val="FC5E24">
                <a:alpha val="42570"/>
              </a:srgbClr>
            </a:solidFill>
            <a:ln>
              <a:noFill/>
            </a:ln>
            <a:effectLst>
              <a:outerShdw blurRad="313091" dist="38100" dir="10800000" sx="101000" sy="101000" algn="r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  <p:sp>
          <p:nvSpPr>
            <p:cNvPr id="47" name="Forma libre 46">
              <a:extLst>
                <a:ext uri="{FF2B5EF4-FFF2-40B4-BE49-F238E27FC236}">
                  <a16:creationId xmlns:a16="http://schemas.microsoft.com/office/drawing/2014/main" id="{5723B967-9E1C-322F-50B5-70E988225C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10123326" y="-12651"/>
              <a:ext cx="1324007" cy="1239654"/>
            </a:xfrm>
            <a:custGeom>
              <a:avLst/>
              <a:gdLst>
                <a:gd name="connsiteX0" fmla="*/ 1324007 w 1324007"/>
                <a:gd name="connsiteY0" fmla="*/ 1239654 h 1239654"/>
                <a:gd name="connsiteX1" fmla="*/ 0 w 1324007"/>
                <a:gd name="connsiteY1" fmla="*/ 1239654 h 1239654"/>
                <a:gd name="connsiteX2" fmla="*/ 648181 w 1324007"/>
                <a:gd name="connsiteY2" fmla="*/ 0 h 123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4007" h="1239654">
                  <a:moveTo>
                    <a:pt x="1324007" y="1239654"/>
                  </a:moveTo>
                  <a:lnTo>
                    <a:pt x="0" y="1239654"/>
                  </a:lnTo>
                  <a:lnTo>
                    <a:pt x="648181" y="0"/>
                  </a:lnTo>
                  <a:close/>
                </a:path>
              </a:pathLst>
            </a:custGeom>
            <a:solidFill>
              <a:srgbClr val="F0AE9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</p:grpSp>
      <p:sp>
        <p:nvSpPr>
          <p:cNvPr id="7" name="Text 3">
            <a:extLst>
              <a:ext uri="{FF2B5EF4-FFF2-40B4-BE49-F238E27FC236}">
                <a16:creationId xmlns:a16="http://schemas.microsoft.com/office/drawing/2014/main" id="{C28A25FE-5BDC-B85B-EE5D-D88E4FE51B58}"/>
              </a:ext>
            </a:extLst>
          </p:cNvPr>
          <p:cNvSpPr txBox="1"/>
          <p:nvPr/>
        </p:nvSpPr>
        <p:spPr>
          <a:xfrm>
            <a:off x="6669507" y="267031"/>
            <a:ext cx="53565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 err="1">
                <a:solidFill>
                  <a:srgbClr val="323232"/>
                </a:solidFill>
                <a:latin typeface="Overpass"/>
                <a:cs typeface="Overpass"/>
              </a:rPr>
              <a:t>P&amp;L</a:t>
            </a:r>
            <a:endParaRPr lang="en-US" sz="2600">
              <a:solidFill>
                <a:srgbClr val="323232"/>
              </a:solidFill>
            </a:endParaRPr>
          </a:p>
        </p:txBody>
      </p:sp>
      <p:sp>
        <p:nvSpPr>
          <p:cNvPr id="60" name="Zona para tabla Excel"/>
          <p:cNvSpPr/>
          <p:nvPr/>
        </p:nvSpPr>
        <p:spPr>
          <a:xfrm>
            <a:off x="218075" y="219651"/>
            <a:ext cx="9418320" cy="6496050"/>
          </a:xfrm>
          <a:prstGeom prst="roundRect">
            <a:avLst>
              <a:gd name="adj" fmla="val 2500"/>
            </a:avLst>
          </a:prstGeom>
          <a:solidFill>
            <a:srgbClr val="F7F7F7"/>
          </a:solidFill>
          <a:ln w="19050">
            <a:solidFill>
              <a:srgbClr val="BFBFBF"/>
            </a:solidFill>
            <a:prstDash val="dash"/>
          </a:ln>
        </p:spPr>
        <p:txBody>
          <a:bodyPr wrap="square" lIns="360000" rIns="360000" anchor="ctr">
            <a:noAutofit/>
          </a:bodyPr>
          <a:lstStyle/>
          <a:p>
            <a:pPr algn="ctr"/>
            <a:r>
              <a:rPr lang="es-CL" sz="2000" b="1">
                <a:solidFill>
                  <a:srgbClr val="7F7F7F"/>
                </a:solidFill>
                <a:latin typeface="Overpass"/>
                <a:cs typeface="Overpass"/>
              </a:rPr>
              <a:t>ÁREA PARA TABLA P&amp;L</a:t>
            </a:r>
          </a:p>
          <a:p>
            <a:pPr algn="ctr">
              <a:spcBef>
                <a:spcPts val="600"/>
              </a:spcBef>
            </a:pPr>
            <a:r>
              <a:rPr lang="es-CL" sz="1200">
                <a:solidFill>
                  <a:srgbClr val="7F7F7F"/>
                </a:solidFill>
                <a:latin typeface="Overpass"/>
                <a:cs typeface="Overpass"/>
              </a:rPr>
              <a:t>Copiar el rango de P&amp;L desde el Excel del proceso y pegarlo aquí como imagen</a:t>
            </a:r>
          </a:p>
          <a:p>
            <a:pPr algn="ctr">
              <a:spcBef>
                <a:spcPts val="600"/>
              </a:spcBef>
            </a:pPr>
            <a:r>
              <a:rPr lang="es-CL" sz="1200">
                <a:solidFill>
                  <a:srgbClr val="7F7F7F"/>
                </a:solidFill>
                <a:latin typeface="Overpass"/>
                <a:cs typeface="Overpass"/>
              </a:rPr>
              <a:t>(Inicio → Pegar → Pegado especial → Imagen).</a:t>
            </a:r>
          </a:p>
          <a:p>
            <a:pPr algn="ctr">
              <a:spcBef>
                <a:spcPts val="600"/>
              </a:spcBef>
            </a:pPr>
            <a:r>
              <a:rPr lang="es-CL" sz="1200">
                <a:solidFill>
                  <a:srgbClr val="7F7F7F"/>
                </a:solidFill>
                <a:latin typeface="Overpass"/>
                <a:cs typeface="Overpass"/>
              </a:rPr>
              <a:t>Evitar «vincular»: el archivo pedirá actualizar vínculos y expone la ruta del Excel.</a:t>
            </a:r>
          </a:p>
          <a:p>
            <a:pPr algn="ctr">
              <a:spcBef>
                <a:spcPts val="600"/>
              </a:spcBef>
            </a:pPr>
            <a:r>
              <a:rPr lang="es-CL" sz="1200">
                <a:solidFill>
                  <a:srgbClr val="7F7F7F"/>
                </a:solidFill>
                <a:latin typeface="Overpass"/>
                <a:cs typeface="Overpass"/>
              </a:rPr>
              <a:t>Zona sugerida: máx. 10,6" de ancho × 7,1" de alto.</a:t>
            </a:r>
          </a:p>
        </p:txBody>
      </p:sp>
    </p:spTree>
    <p:extLst>
      <p:ext uri="{BB962C8B-B14F-4D97-AF65-F5344CB8AC3E}">
        <p14:creationId xmlns:p14="http://schemas.microsoft.com/office/powerpoint/2010/main" val="496659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756B5-8426-CD3B-24AB-29404A990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57B0994-034A-A88C-D224-7274D1DBD9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063262"/>
            <a:ext cx="12192000" cy="47947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763225" dist="38100" dir="16200000" rotWithShape="0">
              <a:prstClr val="black">
                <a:alpha val="27431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1" name="3 Título">
            <a:extLst>
              <a:ext uri="{FF2B5EF4-FFF2-40B4-BE49-F238E27FC236}">
                <a16:creationId xmlns:a16="http://schemas.microsoft.com/office/drawing/2014/main" id="{19B70C8E-E9A2-2484-0CDE-3C5488CC7354}"/>
              </a:ext>
            </a:extLst>
          </p:cNvPr>
          <p:cNvSpPr txBox="1">
            <a:spLocks/>
          </p:cNvSpPr>
          <p:nvPr/>
        </p:nvSpPr>
        <p:spPr>
          <a:xfrm>
            <a:off x="367591" y="686868"/>
            <a:ext cx="5154904" cy="656512"/>
          </a:xfrm>
          <a:prstGeom prst="rect">
            <a:avLst/>
          </a:prstGeom>
        </p:spPr>
        <p:txBody>
          <a:bodyPr lIns="97237" tIns="48619" rIns="97237" bIns="48619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Overpass"/>
                <a:ea typeface="+mj-ea"/>
                <a:cs typeface="+mj-cs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640" b="0" i="0" u="none" strike="noStrike" kern="120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Overpass"/>
              <a:ea typeface="Overpass"/>
              <a:cs typeface="Overpass"/>
            </a:endParaRPr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3220EBA1-56B2-DE21-5411-0FAC21FDDCF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423478" y="-12651"/>
            <a:ext cx="5768522" cy="1239656"/>
            <a:chOff x="6423478" y="-12651"/>
            <a:chExt cx="5768522" cy="1239656"/>
          </a:xfrm>
        </p:grpSpPr>
        <p:sp>
          <p:nvSpPr>
            <p:cNvPr id="48" name="Forma libre 47">
              <a:extLst>
                <a:ext uri="{FF2B5EF4-FFF2-40B4-BE49-F238E27FC236}">
                  <a16:creationId xmlns:a16="http://schemas.microsoft.com/office/drawing/2014/main" id="{FEB1948B-C09A-192B-A084-CB97CE3949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077924" y="-12650"/>
              <a:ext cx="1114076" cy="633863"/>
            </a:xfrm>
            <a:custGeom>
              <a:avLst/>
              <a:gdLst>
                <a:gd name="connsiteX0" fmla="*/ 359692 w 1114076"/>
                <a:gd name="connsiteY0" fmla="*/ 0 h 633863"/>
                <a:gd name="connsiteX1" fmla="*/ 1114076 w 1114076"/>
                <a:gd name="connsiteY1" fmla="*/ 0 h 633863"/>
                <a:gd name="connsiteX2" fmla="*/ 1114076 w 1114076"/>
                <a:gd name="connsiteY2" fmla="*/ 633863 h 633863"/>
                <a:gd name="connsiteX3" fmla="*/ 0 w 1114076"/>
                <a:gd name="connsiteY3" fmla="*/ 633863 h 633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4076" h="633863">
                  <a:moveTo>
                    <a:pt x="359692" y="0"/>
                  </a:moveTo>
                  <a:lnTo>
                    <a:pt x="1114076" y="0"/>
                  </a:lnTo>
                  <a:lnTo>
                    <a:pt x="1114076" y="633863"/>
                  </a:lnTo>
                  <a:lnTo>
                    <a:pt x="0" y="633863"/>
                  </a:lnTo>
                  <a:close/>
                </a:path>
              </a:pathLst>
            </a:custGeom>
            <a:solidFill>
              <a:schemeClr val="bg1">
                <a:lumMod val="85000"/>
                <a:alpha val="4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  <p:sp>
          <p:nvSpPr>
            <p:cNvPr id="45" name="Forma libre 44">
              <a:extLst>
                <a:ext uri="{FF2B5EF4-FFF2-40B4-BE49-F238E27FC236}">
                  <a16:creationId xmlns:a16="http://schemas.microsoft.com/office/drawing/2014/main" id="{490C44F2-4DB3-6203-2524-B54785C950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23478" y="-12650"/>
              <a:ext cx="1710512" cy="464602"/>
            </a:xfrm>
            <a:custGeom>
              <a:avLst/>
              <a:gdLst>
                <a:gd name="connsiteX0" fmla="*/ 263643 w 1710512"/>
                <a:gd name="connsiteY0" fmla="*/ 0 h 464602"/>
                <a:gd name="connsiteX1" fmla="*/ 1446869 w 1710512"/>
                <a:gd name="connsiteY1" fmla="*/ 0 h 464602"/>
                <a:gd name="connsiteX2" fmla="*/ 1710512 w 1710512"/>
                <a:gd name="connsiteY2" fmla="*/ 464602 h 464602"/>
                <a:gd name="connsiteX3" fmla="*/ 0 w 1710512"/>
                <a:gd name="connsiteY3" fmla="*/ 464602 h 46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0512" h="464602">
                  <a:moveTo>
                    <a:pt x="263643" y="0"/>
                  </a:moveTo>
                  <a:lnTo>
                    <a:pt x="1446869" y="0"/>
                  </a:lnTo>
                  <a:lnTo>
                    <a:pt x="1710512" y="464602"/>
                  </a:lnTo>
                  <a:lnTo>
                    <a:pt x="0" y="464602"/>
                  </a:lnTo>
                  <a:close/>
                </a:path>
              </a:pathLst>
            </a:custGeom>
            <a:solidFill>
              <a:srgbClr val="F0AE94">
                <a:alpha val="3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  <p:sp>
          <p:nvSpPr>
            <p:cNvPr id="46" name="Forma libre 45">
              <a:extLst>
                <a:ext uri="{FF2B5EF4-FFF2-40B4-BE49-F238E27FC236}">
                  <a16:creationId xmlns:a16="http://schemas.microsoft.com/office/drawing/2014/main" id="{9E3DBF1F-44C6-3C3B-993A-251996F7937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 flipH="1">
              <a:off x="7840681" y="-12651"/>
              <a:ext cx="2958075" cy="1239656"/>
            </a:xfrm>
            <a:custGeom>
              <a:avLst/>
              <a:gdLst>
                <a:gd name="connsiteX0" fmla="*/ 0 w 2958075"/>
                <a:gd name="connsiteY0" fmla="*/ 1239656 h 1239656"/>
                <a:gd name="connsiteX1" fmla="*/ 2287161 w 2958075"/>
                <a:gd name="connsiteY1" fmla="*/ 1239656 h 1239656"/>
                <a:gd name="connsiteX2" fmla="*/ 2958075 w 2958075"/>
                <a:gd name="connsiteY2" fmla="*/ 0 h 1239656"/>
                <a:gd name="connsiteX3" fmla="*/ 670914 w 2958075"/>
                <a:gd name="connsiteY3" fmla="*/ 0 h 1239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8075" h="1239656">
                  <a:moveTo>
                    <a:pt x="0" y="1239656"/>
                  </a:moveTo>
                  <a:lnTo>
                    <a:pt x="2287161" y="1239656"/>
                  </a:lnTo>
                  <a:lnTo>
                    <a:pt x="2958075" y="0"/>
                  </a:lnTo>
                  <a:lnTo>
                    <a:pt x="670914" y="0"/>
                  </a:lnTo>
                  <a:close/>
                </a:path>
              </a:pathLst>
            </a:custGeom>
            <a:solidFill>
              <a:srgbClr val="FC5E24">
                <a:alpha val="42570"/>
              </a:srgbClr>
            </a:solidFill>
            <a:ln>
              <a:noFill/>
            </a:ln>
            <a:effectLst>
              <a:outerShdw blurRad="313091" dist="38100" dir="10800000" sx="101000" sy="101000" algn="r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  <p:sp>
          <p:nvSpPr>
            <p:cNvPr id="47" name="Forma libre 46">
              <a:extLst>
                <a:ext uri="{FF2B5EF4-FFF2-40B4-BE49-F238E27FC236}">
                  <a16:creationId xmlns:a16="http://schemas.microsoft.com/office/drawing/2014/main" id="{07EF436F-5C9A-FBFC-868F-F5C9EE5DC4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10123326" y="-12651"/>
              <a:ext cx="1324007" cy="1239654"/>
            </a:xfrm>
            <a:custGeom>
              <a:avLst/>
              <a:gdLst>
                <a:gd name="connsiteX0" fmla="*/ 1324007 w 1324007"/>
                <a:gd name="connsiteY0" fmla="*/ 1239654 h 1239654"/>
                <a:gd name="connsiteX1" fmla="*/ 0 w 1324007"/>
                <a:gd name="connsiteY1" fmla="*/ 1239654 h 1239654"/>
                <a:gd name="connsiteX2" fmla="*/ 648181 w 1324007"/>
                <a:gd name="connsiteY2" fmla="*/ 0 h 123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4007" h="1239654">
                  <a:moveTo>
                    <a:pt x="1324007" y="1239654"/>
                  </a:moveTo>
                  <a:lnTo>
                    <a:pt x="0" y="1239654"/>
                  </a:lnTo>
                  <a:lnTo>
                    <a:pt x="648181" y="0"/>
                  </a:lnTo>
                  <a:close/>
                </a:path>
              </a:pathLst>
            </a:custGeom>
            <a:solidFill>
              <a:srgbClr val="F0AE9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_tradnl"/>
            </a:p>
          </p:txBody>
        </p:sp>
      </p:grpSp>
      <p:sp>
        <p:nvSpPr>
          <p:cNvPr id="7" name="Text 3">
            <a:extLst>
              <a:ext uri="{FF2B5EF4-FFF2-40B4-BE49-F238E27FC236}">
                <a16:creationId xmlns:a16="http://schemas.microsoft.com/office/drawing/2014/main" id="{A17D6819-8502-1481-C8E3-AA260256CA7B}"/>
              </a:ext>
            </a:extLst>
          </p:cNvPr>
          <p:cNvSpPr txBox="1"/>
          <p:nvPr/>
        </p:nvSpPr>
        <p:spPr>
          <a:xfrm>
            <a:off x="6400800" y="274320"/>
            <a:ext cx="53565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>
                <a:solidFill>
                  <a:srgbClr val="323232"/>
                </a:solidFill>
                <a:latin typeface="Overpass"/>
                <a:cs typeface="Overpass"/>
              </a:rPr>
              <a:t>CASHFLOW</a:t>
            </a:r>
            <a:endParaRPr lang="en-US" sz="2600">
              <a:solidFill>
                <a:srgbClr val="323232"/>
              </a:solidFill>
            </a:endParaRPr>
          </a:p>
        </p:txBody>
      </p:sp>
      <p:sp>
        <p:nvSpPr>
          <p:cNvPr id="60" name="Zona para tabla Excel"/>
          <p:cNvSpPr/>
          <p:nvPr/>
        </p:nvSpPr>
        <p:spPr>
          <a:xfrm>
            <a:off x="318151" y="219651"/>
            <a:ext cx="9418320" cy="6472238"/>
          </a:xfrm>
          <a:prstGeom prst="roundRect">
            <a:avLst>
              <a:gd name="adj" fmla="val 2500"/>
            </a:avLst>
          </a:prstGeom>
          <a:solidFill>
            <a:srgbClr val="F7F7F7"/>
          </a:solidFill>
          <a:ln w="19050">
            <a:solidFill>
              <a:srgbClr val="BFBFBF"/>
            </a:solidFill>
            <a:prstDash val="dash"/>
          </a:ln>
        </p:spPr>
        <p:txBody>
          <a:bodyPr wrap="square" lIns="360000" rIns="360000" anchor="ctr">
            <a:noAutofit/>
          </a:bodyPr>
          <a:lstStyle/>
          <a:p>
            <a:pPr algn="ctr"/>
            <a:r>
              <a:rPr lang="es-CL" sz="2000" b="1">
                <a:solidFill>
                  <a:srgbClr val="7F7F7F"/>
                </a:solidFill>
                <a:latin typeface="Overpass"/>
                <a:cs typeface="Overpass"/>
              </a:rPr>
              <a:t>ÁREA PARA TABLA CASHFLOW</a:t>
            </a:r>
          </a:p>
          <a:p>
            <a:pPr algn="ctr">
              <a:spcBef>
                <a:spcPts val="600"/>
              </a:spcBef>
            </a:pPr>
            <a:r>
              <a:rPr lang="es-CL" sz="1200">
                <a:solidFill>
                  <a:srgbClr val="7F7F7F"/>
                </a:solidFill>
                <a:latin typeface="Overpass"/>
                <a:cs typeface="Overpass"/>
              </a:rPr>
              <a:t>Copiar el rango de Cashflow desde el Excel del proceso y pegarlo aquí como imagen</a:t>
            </a:r>
          </a:p>
          <a:p>
            <a:pPr algn="ctr">
              <a:spcBef>
                <a:spcPts val="600"/>
              </a:spcBef>
            </a:pPr>
            <a:r>
              <a:rPr lang="es-CL" sz="1200">
                <a:solidFill>
                  <a:srgbClr val="7F7F7F"/>
                </a:solidFill>
                <a:latin typeface="Overpass"/>
                <a:cs typeface="Overpass"/>
              </a:rPr>
              <a:t>(Inicio → Pegar → Pegado especial → Imagen).</a:t>
            </a:r>
          </a:p>
          <a:p>
            <a:pPr algn="ctr">
              <a:spcBef>
                <a:spcPts val="600"/>
              </a:spcBef>
            </a:pPr>
            <a:r>
              <a:rPr lang="es-CL" sz="1200">
                <a:solidFill>
                  <a:srgbClr val="7F7F7F"/>
                </a:solidFill>
                <a:latin typeface="Overpass"/>
                <a:cs typeface="Overpass"/>
              </a:rPr>
              <a:t>Evitar «vincular»: el archivo pedirá actualizar vínculos y expone la ruta del Excel.</a:t>
            </a:r>
          </a:p>
          <a:p>
            <a:pPr algn="ctr">
              <a:spcBef>
                <a:spcPts val="600"/>
              </a:spcBef>
            </a:pPr>
            <a:r>
              <a:rPr lang="es-CL" sz="1200">
                <a:solidFill>
                  <a:srgbClr val="7F7F7F"/>
                </a:solidFill>
                <a:latin typeface="Overpass"/>
                <a:cs typeface="Overpass"/>
              </a:rPr>
              <a:t>Zona sugerida: máx. 10,6" de ancho × 7,1" de alto.</a:t>
            </a:r>
          </a:p>
        </p:txBody>
      </p:sp>
    </p:spTree>
    <p:extLst>
      <p:ext uri="{BB962C8B-B14F-4D97-AF65-F5344CB8AC3E}">
        <p14:creationId xmlns:p14="http://schemas.microsoft.com/office/powerpoint/2010/main" val="3934482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CAE29C7C-CDBC-2118-2DE2-F91CA731D4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36102F-C5DC-75EB-5B7E-8B6A1BBBC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5" r="1545"/>
          <a:stretch/>
        </p:blipFill>
        <p:spPr>
          <a:xfrm>
            <a:off x="-552246" y="-35098"/>
            <a:ext cx="8935282" cy="691513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sp>
        <p:nvSpPr>
          <p:cNvPr id="4" name="Paralelogramo 20">
            <a:extLst>
              <a:ext uri="{FF2B5EF4-FFF2-40B4-BE49-F238E27FC236}">
                <a16:creationId xmlns:a16="http://schemas.microsoft.com/office/drawing/2014/main" id="{390E0C56-6AB0-E15C-8470-229207165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-44613"/>
            <a:ext cx="6113185" cy="6939791"/>
          </a:xfrm>
          <a:custGeom>
            <a:avLst/>
            <a:gdLst>
              <a:gd name="connsiteX0" fmla="*/ 0 w 4194264"/>
              <a:gd name="connsiteY0" fmla="*/ 6884270 h 6884270"/>
              <a:gd name="connsiteX1" fmla="*/ 1877269 w 4194264"/>
              <a:gd name="connsiteY1" fmla="*/ 0 h 6884270"/>
              <a:gd name="connsiteX2" fmla="*/ 4194264 w 4194264"/>
              <a:gd name="connsiteY2" fmla="*/ 0 h 6884270"/>
              <a:gd name="connsiteX3" fmla="*/ 2316995 w 4194264"/>
              <a:gd name="connsiteY3" fmla="*/ 6884270 h 6884270"/>
              <a:gd name="connsiteX4" fmla="*/ 0 w 4194264"/>
              <a:gd name="connsiteY4" fmla="*/ 6884270 h 6884270"/>
              <a:gd name="connsiteX0" fmla="*/ 0 w 6120340"/>
              <a:gd name="connsiteY0" fmla="*/ 6884270 h 6884270"/>
              <a:gd name="connsiteX1" fmla="*/ 3803345 w 6120340"/>
              <a:gd name="connsiteY1" fmla="*/ 0 h 6884270"/>
              <a:gd name="connsiteX2" fmla="*/ 6120340 w 6120340"/>
              <a:gd name="connsiteY2" fmla="*/ 0 h 6884270"/>
              <a:gd name="connsiteX3" fmla="*/ 4243071 w 6120340"/>
              <a:gd name="connsiteY3" fmla="*/ 6884270 h 6884270"/>
              <a:gd name="connsiteX4" fmla="*/ 0 w 6120340"/>
              <a:gd name="connsiteY4" fmla="*/ 6884270 h 6884270"/>
              <a:gd name="connsiteX0" fmla="*/ 0 w 6120340"/>
              <a:gd name="connsiteY0" fmla="*/ 6884270 h 6903726"/>
              <a:gd name="connsiteX1" fmla="*/ 3803345 w 6120340"/>
              <a:gd name="connsiteY1" fmla="*/ 0 h 6903726"/>
              <a:gd name="connsiteX2" fmla="*/ 6120340 w 6120340"/>
              <a:gd name="connsiteY2" fmla="*/ 0 h 6903726"/>
              <a:gd name="connsiteX3" fmla="*/ 5916228 w 6120340"/>
              <a:gd name="connsiteY3" fmla="*/ 6903726 h 6903726"/>
              <a:gd name="connsiteX4" fmla="*/ 0 w 6120340"/>
              <a:gd name="connsiteY4" fmla="*/ 6884270 h 6903726"/>
              <a:gd name="connsiteX0" fmla="*/ 0 w 5916228"/>
              <a:gd name="connsiteY0" fmla="*/ 6884270 h 6903726"/>
              <a:gd name="connsiteX1" fmla="*/ 3803345 w 5916228"/>
              <a:gd name="connsiteY1" fmla="*/ 0 h 6903726"/>
              <a:gd name="connsiteX2" fmla="*/ 5264306 w 5916228"/>
              <a:gd name="connsiteY2" fmla="*/ 564204 h 6903726"/>
              <a:gd name="connsiteX3" fmla="*/ 5916228 w 5916228"/>
              <a:gd name="connsiteY3" fmla="*/ 6903726 h 6903726"/>
              <a:gd name="connsiteX4" fmla="*/ 0 w 5916228"/>
              <a:gd name="connsiteY4" fmla="*/ 6884270 h 6903726"/>
              <a:gd name="connsiteX0" fmla="*/ 0 w 5925787"/>
              <a:gd name="connsiteY0" fmla="*/ 6903726 h 6923182"/>
              <a:gd name="connsiteX1" fmla="*/ 3803345 w 5925787"/>
              <a:gd name="connsiteY1" fmla="*/ 19456 h 6923182"/>
              <a:gd name="connsiteX2" fmla="*/ 5925787 w 5925787"/>
              <a:gd name="connsiteY2" fmla="*/ 0 h 6923182"/>
              <a:gd name="connsiteX3" fmla="*/ 5916228 w 5925787"/>
              <a:gd name="connsiteY3" fmla="*/ 6923182 h 6923182"/>
              <a:gd name="connsiteX4" fmla="*/ 0 w 5925787"/>
              <a:gd name="connsiteY4" fmla="*/ 6903726 h 6923182"/>
              <a:gd name="connsiteX0" fmla="*/ 0 w 5925787"/>
              <a:gd name="connsiteY0" fmla="*/ 6923181 h 6942637"/>
              <a:gd name="connsiteX1" fmla="*/ 3803345 w 5925787"/>
              <a:gd name="connsiteY1" fmla="*/ 0 h 6942637"/>
              <a:gd name="connsiteX2" fmla="*/ 5925787 w 5925787"/>
              <a:gd name="connsiteY2" fmla="*/ 19455 h 6942637"/>
              <a:gd name="connsiteX3" fmla="*/ 5916228 w 5925787"/>
              <a:gd name="connsiteY3" fmla="*/ 6942637 h 6942637"/>
              <a:gd name="connsiteX4" fmla="*/ 0 w 5925787"/>
              <a:gd name="connsiteY4" fmla="*/ 6923181 h 6942637"/>
              <a:gd name="connsiteX0" fmla="*/ 0 w 5945242"/>
              <a:gd name="connsiteY0" fmla="*/ 6942637 h 6962093"/>
              <a:gd name="connsiteX1" fmla="*/ 3803345 w 5945242"/>
              <a:gd name="connsiteY1" fmla="*/ 19456 h 6962093"/>
              <a:gd name="connsiteX2" fmla="*/ 5945242 w 5945242"/>
              <a:gd name="connsiteY2" fmla="*/ 0 h 6962093"/>
              <a:gd name="connsiteX3" fmla="*/ 5916228 w 5945242"/>
              <a:gd name="connsiteY3" fmla="*/ 6962093 h 6962093"/>
              <a:gd name="connsiteX4" fmla="*/ 0 w 5945242"/>
              <a:gd name="connsiteY4" fmla="*/ 6942637 h 6962093"/>
              <a:gd name="connsiteX0" fmla="*/ 0 w 6139904"/>
              <a:gd name="connsiteY0" fmla="*/ 6923181 h 6942637"/>
              <a:gd name="connsiteX1" fmla="*/ 3803345 w 6139904"/>
              <a:gd name="connsiteY1" fmla="*/ 0 h 6942637"/>
              <a:gd name="connsiteX2" fmla="*/ 6139904 w 6139904"/>
              <a:gd name="connsiteY2" fmla="*/ 10281 h 6942637"/>
              <a:gd name="connsiteX3" fmla="*/ 5916228 w 6139904"/>
              <a:gd name="connsiteY3" fmla="*/ 6942637 h 6942637"/>
              <a:gd name="connsiteX4" fmla="*/ 0 w 6139904"/>
              <a:gd name="connsiteY4" fmla="*/ 6923181 h 6942637"/>
              <a:gd name="connsiteX0" fmla="*/ 0 w 6154878"/>
              <a:gd name="connsiteY0" fmla="*/ 6935203 h 6954659"/>
              <a:gd name="connsiteX1" fmla="*/ 3803345 w 6154878"/>
              <a:gd name="connsiteY1" fmla="*/ 12022 h 6954659"/>
              <a:gd name="connsiteX2" fmla="*/ 6154878 w 6154878"/>
              <a:gd name="connsiteY2" fmla="*/ 0 h 6954659"/>
              <a:gd name="connsiteX3" fmla="*/ 5916228 w 6154878"/>
              <a:gd name="connsiteY3" fmla="*/ 6954659 h 6954659"/>
              <a:gd name="connsiteX4" fmla="*/ 0 w 6154878"/>
              <a:gd name="connsiteY4" fmla="*/ 6935203 h 6954659"/>
              <a:gd name="connsiteX0" fmla="*/ 0 w 6156634"/>
              <a:gd name="connsiteY0" fmla="*/ 6935203 h 6939791"/>
              <a:gd name="connsiteX1" fmla="*/ 3803345 w 6156634"/>
              <a:gd name="connsiteY1" fmla="*/ 12022 h 6939791"/>
              <a:gd name="connsiteX2" fmla="*/ 6154878 w 6156634"/>
              <a:gd name="connsiteY2" fmla="*/ 0 h 6939791"/>
              <a:gd name="connsiteX3" fmla="*/ 6155811 w 6156634"/>
              <a:gd name="connsiteY3" fmla="*/ 6939791 h 6939791"/>
              <a:gd name="connsiteX4" fmla="*/ 0 w 6156634"/>
              <a:gd name="connsiteY4" fmla="*/ 6935203 h 6939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6634" h="6939791">
                <a:moveTo>
                  <a:pt x="0" y="6935203"/>
                </a:moveTo>
                <a:lnTo>
                  <a:pt x="3803345" y="12022"/>
                </a:lnTo>
                <a:lnTo>
                  <a:pt x="6154878" y="0"/>
                </a:lnTo>
                <a:cubicBezTo>
                  <a:pt x="6151692" y="2307727"/>
                  <a:pt x="6158997" y="4632064"/>
                  <a:pt x="6155811" y="6939791"/>
                </a:cubicBezTo>
                <a:lnTo>
                  <a:pt x="0" y="6935203"/>
                </a:lnTo>
                <a:close/>
              </a:path>
            </a:pathLst>
          </a:cu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6000">
                <a:srgbClr val="333333"/>
              </a:gs>
              <a:gs pos="43000">
                <a:schemeClr val="tx1">
                  <a:lumMod val="85000"/>
                  <a:lumOff val="1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/>
              <a:t>&lt;&lt;</a:t>
            </a:r>
          </a:p>
        </p:txBody>
      </p:sp>
      <p:sp>
        <p:nvSpPr>
          <p:cNvPr id="8" name="Paralelogramo 20">
            <a:extLst>
              <a:ext uri="{FF2B5EF4-FFF2-40B4-BE49-F238E27FC236}">
                <a16:creationId xmlns:a16="http://schemas.microsoft.com/office/drawing/2014/main" id="{DF0A7E35-9F66-27D2-45FF-1DE4EDD526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 flipH="1">
            <a:off x="5501918" y="-73225"/>
            <a:ext cx="5903285" cy="6962093"/>
          </a:xfrm>
          <a:custGeom>
            <a:avLst/>
            <a:gdLst>
              <a:gd name="connsiteX0" fmla="*/ 0 w 4194264"/>
              <a:gd name="connsiteY0" fmla="*/ 6884270 h 6884270"/>
              <a:gd name="connsiteX1" fmla="*/ 1877269 w 4194264"/>
              <a:gd name="connsiteY1" fmla="*/ 0 h 6884270"/>
              <a:gd name="connsiteX2" fmla="*/ 4194264 w 4194264"/>
              <a:gd name="connsiteY2" fmla="*/ 0 h 6884270"/>
              <a:gd name="connsiteX3" fmla="*/ 2316995 w 4194264"/>
              <a:gd name="connsiteY3" fmla="*/ 6884270 h 6884270"/>
              <a:gd name="connsiteX4" fmla="*/ 0 w 4194264"/>
              <a:gd name="connsiteY4" fmla="*/ 6884270 h 6884270"/>
              <a:gd name="connsiteX0" fmla="*/ 0 w 6120340"/>
              <a:gd name="connsiteY0" fmla="*/ 6884270 h 6884270"/>
              <a:gd name="connsiteX1" fmla="*/ 3803345 w 6120340"/>
              <a:gd name="connsiteY1" fmla="*/ 0 h 6884270"/>
              <a:gd name="connsiteX2" fmla="*/ 6120340 w 6120340"/>
              <a:gd name="connsiteY2" fmla="*/ 0 h 6884270"/>
              <a:gd name="connsiteX3" fmla="*/ 4243071 w 6120340"/>
              <a:gd name="connsiteY3" fmla="*/ 6884270 h 6884270"/>
              <a:gd name="connsiteX4" fmla="*/ 0 w 6120340"/>
              <a:gd name="connsiteY4" fmla="*/ 6884270 h 6884270"/>
              <a:gd name="connsiteX0" fmla="*/ 0 w 6120340"/>
              <a:gd name="connsiteY0" fmla="*/ 6884270 h 6903726"/>
              <a:gd name="connsiteX1" fmla="*/ 3803345 w 6120340"/>
              <a:gd name="connsiteY1" fmla="*/ 0 h 6903726"/>
              <a:gd name="connsiteX2" fmla="*/ 6120340 w 6120340"/>
              <a:gd name="connsiteY2" fmla="*/ 0 h 6903726"/>
              <a:gd name="connsiteX3" fmla="*/ 5916228 w 6120340"/>
              <a:gd name="connsiteY3" fmla="*/ 6903726 h 6903726"/>
              <a:gd name="connsiteX4" fmla="*/ 0 w 6120340"/>
              <a:gd name="connsiteY4" fmla="*/ 6884270 h 6903726"/>
              <a:gd name="connsiteX0" fmla="*/ 0 w 5916228"/>
              <a:gd name="connsiteY0" fmla="*/ 6884270 h 6903726"/>
              <a:gd name="connsiteX1" fmla="*/ 3803345 w 5916228"/>
              <a:gd name="connsiteY1" fmla="*/ 0 h 6903726"/>
              <a:gd name="connsiteX2" fmla="*/ 5264306 w 5916228"/>
              <a:gd name="connsiteY2" fmla="*/ 564204 h 6903726"/>
              <a:gd name="connsiteX3" fmla="*/ 5916228 w 5916228"/>
              <a:gd name="connsiteY3" fmla="*/ 6903726 h 6903726"/>
              <a:gd name="connsiteX4" fmla="*/ 0 w 5916228"/>
              <a:gd name="connsiteY4" fmla="*/ 6884270 h 6903726"/>
              <a:gd name="connsiteX0" fmla="*/ 0 w 5925787"/>
              <a:gd name="connsiteY0" fmla="*/ 6903726 h 6923182"/>
              <a:gd name="connsiteX1" fmla="*/ 3803345 w 5925787"/>
              <a:gd name="connsiteY1" fmla="*/ 19456 h 6923182"/>
              <a:gd name="connsiteX2" fmla="*/ 5925787 w 5925787"/>
              <a:gd name="connsiteY2" fmla="*/ 0 h 6923182"/>
              <a:gd name="connsiteX3" fmla="*/ 5916228 w 5925787"/>
              <a:gd name="connsiteY3" fmla="*/ 6923182 h 6923182"/>
              <a:gd name="connsiteX4" fmla="*/ 0 w 5925787"/>
              <a:gd name="connsiteY4" fmla="*/ 6903726 h 6923182"/>
              <a:gd name="connsiteX0" fmla="*/ 0 w 5925787"/>
              <a:gd name="connsiteY0" fmla="*/ 6923181 h 6942637"/>
              <a:gd name="connsiteX1" fmla="*/ 3803345 w 5925787"/>
              <a:gd name="connsiteY1" fmla="*/ 0 h 6942637"/>
              <a:gd name="connsiteX2" fmla="*/ 5925787 w 5925787"/>
              <a:gd name="connsiteY2" fmla="*/ 19455 h 6942637"/>
              <a:gd name="connsiteX3" fmla="*/ 5916228 w 5925787"/>
              <a:gd name="connsiteY3" fmla="*/ 6942637 h 6942637"/>
              <a:gd name="connsiteX4" fmla="*/ 0 w 5925787"/>
              <a:gd name="connsiteY4" fmla="*/ 6923181 h 6942637"/>
              <a:gd name="connsiteX0" fmla="*/ 0 w 5945242"/>
              <a:gd name="connsiteY0" fmla="*/ 6942637 h 6962093"/>
              <a:gd name="connsiteX1" fmla="*/ 3803345 w 5945242"/>
              <a:gd name="connsiteY1" fmla="*/ 19456 h 6962093"/>
              <a:gd name="connsiteX2" fmla="*/ 5945242 w 5945242"/>
              <a:gd name="connsiteY2" fmla="*/ 0 h 6962093"/>
              <a:gd name="connsiteX3" fmla="*/ 5916228 w 5945242"/>
              <a:gd name="connsiteY3" fmla="*/ 6962093 h 6962093"/>
              <a:gd name="connsiteX4" fmla="*/ 0 w 5945242"/>
              <a:gd name="connsiteY4" fmla="*/ 6942637 h 6962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45242" h="6962093">
                <a:moveTo>
                  <a:pt x="0" y="6942637"/>
                </a:moveTo>
                <a:lnTo>
                  <a:pt x="3803345" y="19456"/>
                </a:lnTo>
                <a:lnTo>
                  <a:pt x="5945242" y="0"/>
                </a:lnTo>
                <a:cubicBezTo>
                  <a:pt x="5942056" y="2307727"/>
                  <a:pt x="5919414" y="4654366"/>
                  <a:pt x="5916228" y="6962093"/>
                </a:cubicBezTo>
                <a:lnTo>
                  <a:pt x="0" y="6942637"/>
                </a:lnTo>
                <a:close/>
              </a:path>
            </a:pathLst>
          </a:cu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99000">
                <a:schemeClr val="tx1">
                  <a:lumMod val="85000"/>
                  <a:lumOff val="15000"/>
                </a:schemeClr>
              </a:gs>
            </a:gsLst>
            <a:lin ang="0" scaled="0"/>
          </a:gradFill>
          <a:ln>
            <a:noFill/>
          </a:ln>
          <a:effectLst>
            <a:outerShdw blurRad="88900" dist="38100" dir="10800000" sx="101000" sy="101000" algn="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Triángulo 16">
            <a:extLst>
              <a:ext uri="{FF2B5EF4-FFF2-40B4-BE49-F238E27FC236}">
                <a16:creationId xmlns:a16="http://schemas.microsoft.com/office/drawing/2014/main" id="{452C8F8B-E6CA-A26C-7CD2-2176B171BB7B}"/>
              </a:ext>
            </a:extLst>
          </p:cNvPr>
          <p:cNvSpPr/>
          <p:nvPr/>
        </p:nvSpPr>
        <p:spPr>
          <a:xfrm>
            <a:off x="5402045" y="-43927"/>
            <a:ext cx="1710512" cy="1507165"/>
          </a:xfrm>
          <a:prstGeom prst="triangle">
            <a:avLst/>
          </a:prstGeom>
          <a:solidFill>
            <a:srgbClr val="7E2F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" name="Triángulo 17">
            <a:extLst>
              <a:ext uri="{FF2B5EF4-FFF2-40B4-BE49-F238E27FC236}">
                <a16:creationId xmlns:a16="http://schemas.microsoft.com/office/drawing/2014/main" id="{5A11B1EA-B74B-79E1-63C7-34A1ECAAC250}"/>
              </a:ext>
            </a:extLst>
          </p:cNvPr>
          <p:cNvSpPr/>
          <p:nvPr/>
        </p:nvSpPr>
        <p:spPr>
          <a:xfrm rot="10800000">
            <a:off x="8466226" y="-43927"/>
            <a:ext cx="2484910" cy="2196144"/>
          </a:xfrm>
          <a:prstGeom prst="triangle">
            <a:avLst/>
          </a:prstGeom>
          <a:solidFill>
            <a:srgbClr val="BD461B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Triángulo 18">
            <a:extLst>
              <a:ext uri="{FF2B5EF4-FFF2-40B4-BE49-F238E27FC236}">
                <a16:creationId xmlns:a16="http://schemas.microsoft.com/office/drawing/2014/main" id="{18AEC0A1-D599-129B-8B6D-349AA8DD50D6}"/>
              </a:ext>
            </a:extLst>
          </p:cNvPr>
          <p:cNvSpPr/>
          <p:nvPr/>
        </p:nvSpPr>
        <p:spPr>
          <a:xfrm>
            <a:off x="10108125" y="-43927"/>
            <a:ext cx="1710512" cy="1507165"/>
          </a:xfrm>
          <a:prstGeom prst="triangle">
            <a:avLst/>
          </a:prstGeom>
          <a:solidFill>
            <a:srgbClr val="BD461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0" name="Triángulo 19">
            <a:extLst>
              <a:ext uri="{FF2B5EF4-FFF2-40B4-BE49-F238E27FC236}">
                <a16:creationId xmlns:a16="http://schemas.microsoft.com/office/drawing/2014/main" id="{1BB48475-46E6-45C3-2706-FC5C892688BE}"/>
              </a:ext>
            </a:extLst>
          </p:cNvPr>
          <p:cNvSpPr/>
          <p:nvPr/>
        </p:nvSpPr>
        <p:spPr>
          <a:xfrm rot="10800000">
            <a:off x="1074816" y="2158935"/>
            <a:ext cx="1710512" cy="1503990"/>
          </a:xfrm>
          <a:custGeom>
            <a:avLst/>
            <a:gdLst>
              <a:gd name="connsiteX0" fmla="*/ 0 w 1710512"/>
              <a:gd name="connsiteY0" fmla="*/ 1507165 h 1507165"/>
              <a:gd name="connsiteX1" fmla="*/ 855256 w 1710512"/>
              <a:gd name="connsiteY1" fmla="*/ 0 h 1507165"/>
              <a:gd name="connsiteX2" fmla="*/ 1710512 w 1710512"/>
              <a:gd name="connsiteY2" fmla="*/ 1507165 h 1507165"/>
              <a:gd name="connsiteX3" fmla="*/ 0 w 1710512"/>
              <a:gd name="connsiteY3" fmla="*/ 1507165 h 1507165"/>
              <a:gd name="connsiteX0" fmla="*/ 0 w 1710512"/>
              <a:gd name="connsiteY0" fmla="*/ 1507165 h 1507165"/>
              <a:gd name="connsiteX1" fmla="*/ 858431 w 1710512"/>
              <a:gd name="connsiteY1" fmla="*/ 0 h 1507165"/>
              <a:gd name="connsiteX2" fmla="*/ 1710512 w 1710512"/>
              <a:gd name="connsiteY2" fmla="*/ 1507165 h 1507165"/>
              <a:gd name="connsiteX3" fmla="*/ 0 w 1710512"/>
              <a:gd name="connsiteY3" fmla="*/ 1507165 h 1507165"/>
              <a:gd name="connsiteX0" fmla="*/ 0 w 1710512"/>
              <a:gd name="connsiteY0" fmla="*/ 1503990 h 1503990"/>
              <a:gd name="connsiteX1" fmla="*/ 858431 w 1710512"/>
              <a:gd name="connsiteY1" fmla="*/ 0 h 1503990"/>
              <a:gd name="connsiteX2" fmla="*/ 1710512 w 1710512"/>
              <a:gd name="connsiteY2" fmla="*/ 1503990 h 1503990"/>
              <a:gd name="connsiteX3" fmla="*/ 0 w 1710512"/>
              <a:gd name="connsiteY3" fmla="*/ 1503990 h 1503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0512" h="1503990">
                <a:moveTo>
                  <a:pt x="0" y="1503990"/>
                </a:moveTo>
                <a:lnTo>
                  <a:pt x="858431" y="0"/>
                </a:lnTo>
                <a:lnTo>
                  <a:pt x="1710512" y="1503990"/>
                </a:lnTo>
                <a:lnTo>
                  <a:pt x="0" y="1503990"/>
                </a:lnTo>
                <a:close/>
              </a:path>
            </a:pathLst>
          </a:custGeom>
          <a:solidFill>
            <a:srgbClr val="FC5E24">
              <a:alpha val="9696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Paralelogramo 20">
            <a:extLst>
              <a:ext uri="{FF2B5EF4-FFF2-40B4-BE49-F238E27FC236}">
                <a16:creationId xmlns:a16="http://schemas.microsoft.com/office/drawing/2014/main" id="{92D42F4D-8232-8B2F-C6A6-7BFA4487149B}"/>
              </a:ext>
            </a:extLst>
          </p:cNvPr>
          <p:cNvSpPr/>
          <p:nvPr/>
        </p:nvSpPr>
        <p:spPr>
          <a:xfrm rot="10800000">
            <a:off x="1924513" y="1480819"/>
            <a:ext cx="3477531" cy="2185281"/>
          </a:xfrm>
          <a:prstGeom prst="parallelogram">
            <a:avLst>
              <a:gd name="adj" fmla="val 57282"/>
            </a:avLst>
          </a:prstGeom>
          <a:solidFill>
            <a:srgbClr val="BD461B">
              <a:alpha val="50000"/>
            </a:srgbClr>
          </a:solidFill>
          <a:ln>
            <a:noFill/>
          </a:ln>
          <a:effectLst>
            <a:outerShdw blurRad="1270000" dist="38100" dir="10800000" sx="102000" sy="102000" algn="r" rotWithShape="0">
              <a:prstClr val="black">
                <a:alpha val="5571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Paralelogramo 21">
            <a:extLst>
              <a:ext uri="{FF2B5EF4-FFF2-40B4-BE49-F238E27FC236}">
                <a16:creationId xmlns:a16="http://schemas.microsoft.com/office/drawing/2014/main" id="{F31573B7-5293-A551-9696-DFF709FB0031}"/>
              </a:ext>
            </a:extLst>
          </p:cNvPr>
          <p:cNvSpPr/>
          <p:nvPr/>
        </p:nvSpPr>
        <p:spPr>
          <a:xfrm rot="10800000" flipH="1">
            <a:off x="6255001" y="-43927"/>
            <a:ext cx="3477531" cy="2185281"/>
          </a:xfrm>
          <a:prstGeom prst="parallelogram">
            <a:avLst>
              <a:gd name="adj" fmla="val 57282"/>
            </a:avLst>
          </a:prstGeom>
          <a:solidFill>
            <a:srgbClr val="FC5E24">
              <a:alpha val="82338"/>
            </a:srgbClr>
          </a:solidFill>
          <a:ln>
            <a:noFill/>
          </a:ln>
          <a:effectLst>
            <a:outerShdw blurRad="114300" dist="38100" dir="10800000" sx="101000" sy="101000" algn="r" rotWithShape="0">
              <a:prstClr val="black">
                <a:alpha val="1436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3" name="Triángulo 22">
            <a:extLst>
              <a:ext uri="{FF2B5EF4-FFF2-40B4-BE49-F238E27FC236}">
                <a16:creationId xmlns:a16="http://schemas.microsoft.com/office/drawing/2014/main" id="{294D4405-EA4B-454E-6E89-780DD8BCF90B}"/>
              </a:ext>
            </a:extLst>
          </p:cNvPr>
          <p:cNvSpPr/>
          <p:nvPr/>
        </p:nvSpPr>
        <p:spPr>
          <a:xfrm>
            <a:off x="4877396" y="1463238"/>
            <a:ext cx="1052224" cy="927135"/>
          </a:xfrm>
          <a:prstGeom prst="triangle">
            <a:avLst/>
          </a:prstGeom>
          <a:solidFill>
            <a:srgbClr val="FC5E24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4" name="Triángulo 23">
            <a:extLst>
              <a:ext uri="{FF2B5EF4-FFF2-40B4-BE49-F238E27FC236}">
                <a16:creationId xmlns:a16="http://schemas.microsoft.com/office/drawing/2014/main" id="{CF89C69B-FDC8-DDBC-B4B1-0E54B6ADF389}"/>
              </a:ext>
            </a:extLst>
          </p:cNvPr>
          <p:cNvSpPr/>
          <p:nvPr/>
        </p:nvSpPr>
        <p:spPr>
          <a:xfrm>
            <a:off x="877848" y="2738966"/>
            <a:ext cx="1052224" cy="927135"/>
          </a:xfrm>
          <a:prstGeom prst="triangle">
            <a:avLst>
              <a:gd name="adj" fmla="val 50084"/>
            </a:avLst>
          </a:prstGeom>
          <a:solidFill>
            <a:srgbClr val="FC5E24">
              <a:alpha val="437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DFF5036A-8736-3AB0-EBE1-92CC7B679EB7}"/>
              </a:ext>
            </a:extLst>
          </p:cNvPr>
          <p:cNvSpPr/>
          <p:nvPr/>
        </p:nvSpPr>
        <p:spPr>
          <a:xfrm rot="10800000">
            <a:off x="3825806" y="4703587"/>
            <a:ext cx="3477531" cy="2185281"/>
          </a:xfrm>
          <a:prstGeom prst="parallelogram">
            <a:avLst>
              <a:gd name="adj" fmla="val 54957"/>
            </a:avLst>
          </a:prstGeom>
          <a:solidFill>
            <a:srgbClr val="FC5E24">
              <a:alpha val="54000"/>
            </a:srgbClr>
          </a:solidFill>
          <a:ln>
            <a:noFill/>
          </a:ln>
          <a:effectLst>
            <a:outerShdw blurRad="76200" dist="38100" dir="10800000" sx="102000" sy="102000" algn="r" rotWithShape="0">
              <a:prstClr val="black">
                <a:alpha val="17869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B919C3E6-3C4B-3FDC-B38B-4D9F4A66C6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604" y="5973538"/>
            <a:ext cx="1435365" cy="708123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8CC42CCA-3A4D-3FD4-ADFA-12EC1A223B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3500" y="6134100"/>
            <a:ext cx="950062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49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305" y="0"/>
            <a:ext cx="3284525" cy="1196035"/>
          </a:xfrm>
          <a:custGeom>
            <a:avLst/>
            <a:gdLst/>
            <a:ahLst/>
            <a:cxnLst/>
            <a:rect l="l" t="t" r="r" b="b"/>
            <a:pathLst>
              <a:path w="3284525" h="1196035">
                <a:moveTo>
                  <a:pt x="0" y="0"/>
                </a:moveTo>
                <a:lnTo>
                  <a:pt x="3284525" y="0"/>
                </a:lnTo>
                <a:lnTo>
                  <a:pt x="944575" y="1196035"/>
                </a:lnTo>
                <a:close/>
              </a:path>
            </a:pathLst>
          </a:cu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3779215"/>
            <a:ext cx="2270455" cy="3078785"/>
          </a:xfrm>
          <a:custGeom>
            <a:avLst/>
            <a:gdLst/>
            <a:ahLst/>
            <a:cxnLst/>
            <a:rect l="l" t="t" r="r" b="b"/>
            <a:pathLst>
              <a:path w="2270455" h="3078785">
                <a:moveTo>
                  <a:pt x="0" y="0"/>
                </a:moveTo>
                <a:lnTo>
                  <a:pt x="2270455" y="3078785"/>
                </a:lnTo>
                <a:lnTo>
                  <a:pt x="0" y="3078785"/>
                </a:lnTo>
                <a:close/>
              </a:path>
            </a:pathLst>
          </a:cu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9814255" y="5585155"/>
            <a:ext cx="2370125" cy="1272845"/>
          </a:xfrm>
          <a:custGeom>
            <a:avLst/>
            <a:gdLst/>
            <a:ahLst/>
            <a:cxnLst/>
            <a:rect l="l" t="t" r="r" b="b"/>
            <a:pathLst>
              <a:path w="2370125" h="1272845">
                <a:moveTo>
                  <a:pt x="2370125" y="0"/>
                </a:moveTo>
                <a:lnTo>
                  <a:pt x="0" y="1272845"/>
                </a:lnTo>
                <a:lnTo>
                  <a:pt x="2370125" y="1272845"/>
                </a:lnTo>
                <a:close/>
              </a:path>
            </a:pathLst>
          </a:cu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6400800" y="274320"/>
            <a:ext cx="53565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RESUMEN</a:t>
            </a:r>
            <a:endParaRPr lang="en-US" sz="2600">
              <a:solidFill>
                <a:srgbClr val="323232"/>
              </a:solidFill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932688" y="2423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">
                <a:solidFill>
                  <a:srgbClr val="595959"/>
                </a:solidFill>
                <a:latin typeface="Overpass"/>
                <a:ea typeface="Overpass"/>
                <a:cs typeface="Overpass"/>
              </a:rPr>
              <a:t>PROPUESTA DE SERVICIO — [NOMBRE DEL SERVICIO]</a:t>
            </a:r>
            <a:endParaRPr lang="en-US" sz="1150">
              <a:solidFill>
                <a:srgbClr val="595959"/>
              </a:solidFill>
            </a:endParaRPr>
          </a:p>
        </p:txBody>
      </p:sp>
      <p:sp>
        <p:nvSpPr>
          <p:cNvPr id="28" name="Shape 25"/>
          <p:cNvSpPr/>
          <p:nvPr/>
        </p:nvSpPr>
        <p:spPr>
          <a:xfrm>
            <a:off x="891540" y="2720340"/>
            <a:ext cx="103555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6"/>
          <p:cNvSpPr/>
          <p:nvPr/>
        </p:nvSpPr>
        <p:spPr>
          <a:xfrm>
            <a:off x="838505" y="2720340"/>
            <a:ext cx="53035" cy="329184"/>
          </a:xfrm>
          <a:prstGeom prst="rect">
            <a:avLst/>
          </a:pr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 txBox="1"/>
          <p:nvPr/>
        </p:nvSpPr>
        <p:spPr>
          <a:xfrm>
            <a:off x="1240841" y="27203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Cliente</a:t>
            </a:r>
            <a:endParaRPr lang="en-US" sz="1150">
              <a:solidFill>
                <a:srgbClr val="323232"/>
              </a:solidFill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3161081" y="2756916"/>
            <a:ext cx="7884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[Mandante] — [División / Gerencia / Superintendencia] ([Faena / Instalación])</a:t>
            </a:r>
            <a:endParaRPr lang="en-US" sz="1100">
              <a:solidFill>
                <a:srgbClr val="404040"/>
              </a:solidFill>
            </a:endParaRPr>
          </a:p>
        </p:txBody>
      </p:sp>
      <p:sp>
        <p:nvSpPr>
          <p:cNvPr id="32" name="Shape 29"/>
          <p:cNvSpPr/>
          <p:nvPr/>
        </p:nvSpPr>
        <p:spPr>
          <a:xfrm>
            <a:off x="891540" y="3122676"/>
            <a:ext cx="103555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0"/>
          <p:cNvSpPr/>
          <p:nvPr/>
        </p:nvSpPr>
        <p:spPr>
          <a:xfrm>
            <a:off x="838505" y="3122676"/>
            <a:ext cx="53035" cy="329184"/>
          </a:xfrm>
          <a:prstGeom prst="rect">
            <a:avLst/>
          </a:pr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1"/>
          <p:cNvSpPr txBox="1"/>
          <p:nvPr/>
        </p:nvSpPr>
        <p:spPr>
          <a:xfrm>
            <a:off x="1240841" y="312267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Compañía Licitante</a:t>
            </a:r>
            <a:endParaRPr lang="en-US" sz="1150">
              <a:solidFill>
                <a:srgbClr val="323232"/>
              </a:solidFill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3161081" y="3159252"/>
            <a:ext cx="7884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[Empresa operativa licitante: Steel SpA / Berliam / Walvis / Quintrax]</a:t>
            </a:r>
            <a:endParaRPr lang="en-US" sz="1100">
              <a:solidFill>
                <a:srgbClr val="404040"/>
              </a:solidFill>
            </a:endParaRPr>
          </a:p>
        </p:txBody>
      </p:sp>
      <p:sp>
        <p:nvSpPr>
          <p:cNvPr id="36" name="Shape 33"/>
          <p:cNvSpPr/>
          <p:nvPr/>
        </p:nvSpPr>
        <p:spPr>
          <a:xfrm>
            <a:off x="891540" y="3525012"/>
            <a:ext cx="103555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4"/>
          <p:cNvSpPr/>
          <p:nvPr/>
        </p:nvSpPr>
        <p:spPr>
          <a:xfrm>
            <a:off x="838505" y="3525012"/>
            <a:ext cx="53035" cy="1005840"/>
          </a:xfrm>
          <a:prstGeom prst="rect">
            <a:avLst/>
          </a:pr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Text 35"/>
          <p:cNvSpPr txBox="1"/>
          <p:nvPr/>
        </p:nvSpPr>
        <p:spPr>
          <a:xfrm>
            <a:off x="1240841" y="352501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Alcance</a:t>
            </a:r>
            <a:endParaRPr lang="en-US" sz="1150">
              <a:solidFill>
                <a:srgbClr val="323232"/>
              </a:solidFill>
            </a:endParaRPr>
          </a:p>
        </p:txBody>
      </p:sp>
      <p:sp>
        <p:nvSpPr>
          <p:cNvPr id="39" name="Text 36"/>
          <p:cNvSpPr txBox="1"/>
          <p:nvPr/>
        </p:nvSpPr>
        <p:spPr>
          <a:xfrm>
            <a:off x="3161081" y="3561588"/>
            <a:ext cx="788487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[Resumen del alcance: áreas o unidades cubiertas, servicios permanentes y no permanentes, equipos principales, servicios spot o extraordinarios]</a:t>
            </a:r>
            <a:endParaRPr lang="en-US" sz="1100">
              <a:solidFill>
                <a:srgbClr val="404040"/>
              </a:solidFill>
            </a:endParaRPr>
          </a:p>
        </p:txBody>
      </p:sp>
      <p:sp>
        <p:nvSpPr>
          <p:cNvPr id="40" name="Shape 37"/>
          <p:cNvSpPr/>
          <p:nvPr/>
        </p:nvSpPr>
        <p:spPr>
          <a:xfrm>
            <a:off x="891540" y="4604004"/>
            <a:ext cx="103555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Shape 38"/>
          <p:cNvSpPr/>
          <p:nvPr/>
        </p:nvSpPr>
        <p:spPr>
          <a:xfrm>
            <a:off x="838505" y="4604004"/>
            <a:ext cx="53035" cy="329184"/>
          </a:xfrm>
          <a:prstGeom prst="rect">
            <a:avLst/>
          </a:prstGeom>
          <a:solidFill>
            <a:srgbClr val="FC5E2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39"/>
          <p:cNvSpPr txBox="1"/>
          <p:nvPr/>
        </p:nvSpPr>
        <p:spPr>
          <a:xfrm>
            <a:off x="1240841" y="46040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Duración</a:t>
            </a:r>
            <a:endParaRPr lang="en-US" sz="1150">
              <a:solidFill>
                <a:srgbClr val="323232"/>
              </a:solidFill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3161081" y="4640580"/>
            <a:ext cx="7884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[XX] meses · [fecha de inicio] – [fecha de término] (adjudicación estimada [fecha])</a:t>
            </a:r>
            <a:endParaRPr lang="en-US" sz="1100">
              <a:solidFill>
                <a:srgbClr val="404040"/>
              </a:solidFill>
            </a:endParaRPr>
          </a:p>
        </p:txBody>
      </p:sp>
      <p:sp>
        <p:nvSpPr>
          <p:cNvPr id="44" name="Shape 41"/>
          <p:cNvSpPr/>
          <p:nvPr/>
        </p:nvSpPr>
        <p:spPr>
          <a:xfrm>
            <a:off x="891540" y="5006340"/>
            <a:ext cx="103555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Shape 42"/>
          <p:cNvSpPr/>
          <p:nvPr/>
        </p:nvSpPr>
        <p:spPr>
          <a:xfrm>
            <a:off x="838505" y="5006340"/>
            <a:ext cx="53035" cy="530352"/>
          </a:xfrm>
          <a:prstGeom prst="rect">
            <a:avLst/>
          </a:prstGeom>
          <a:solidFill>
            <a:srgbClr val="FC5E24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3"/>
          <p:cNvSpPr txBox="1"/>
          <p:nvPr/>
        </p:nvSpPr>
        <p:spPr>
          <a:xfrm>
            <a:off x="1240841" y="500634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Modalidad</a:t>
            </a:r>
            <a:endParaRPr lang="en-US" sz="1150">
              <a:solidFill>
                <a:srgbClr val="323232"/>
              </a:solidFill>
            </a:endParaRPr>
          </a:p>
        </p:txBody>
      </p:sp>
      <p:sp>
        <p:nvSpPr>
          <p:cNvPr id="47" name="Text 44"/>
          <p:cNvSpPr txBox="1"/>
          <p:nvPr/>
        </p:nvSpPr>
        <p:spPr>
          <a:xfrm>
            <a:off x="3161081" y="5042916"/>
            <a:ext cx="78848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err="1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[Modalidad contractual, forma de pago y reajuste]</a:t>
            </a:r>
            <a:endParaRPr lang="en-US" sz="1100">
              <a:solidFill>
                <a:srgbClr val="404040"/>
              </a:solidFill>
            </a:endParaRPr>
          </a:p>
        </p:txBody>
      </p:sp>
      <p:sp>
        <p:nvSpPr>
          <p:cNvPr id="48" name="Shape 45"/>
          <p:cNvSpPr/>
          <p:nvPr/>
        </p:nvSpPr>
        <p:spPr>
          <a:xfrm>
            <a:off x="891540" y="5609844"/>
            <a:ext cx="103555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Shape 46"/>
          <p:cNvSpPr/>
          <p:nvPr/>
        </p:nvSpPr>
        <p:spPr>
          <a:xfrm>
            <a:off x="838505" y="5609844"/>
            <a:ext cx="53035" cy="329184"/>
          </a:xfrm>
          <a:prstGeom prst="rect">
            <a:avLst/>
          </a:prstGeom>
          <a:solidFill>
            <a:srgbClr val="FC5E24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7"/>
          <p:cNvSpPr txBox="1"/>
          <p:nvPr/>
        </p:nvSpPr>
        <p:spPr>
          <a:xfrm>
            <a:off x="1240841" y="56098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HSEQ y calidad</a:t>
            </a:r>
            <a:endParaRPr lang="en-US" sz="1150">
              <a:solidFill>
                <a:srgbClr val="323232"/>
              </a:solidFill>
            </a:endParaRPr>
          </a:p>
        </p:txBody>
      </p:sp>
      <p:sp>
        <p:nvSpPr>
          <p:cNvPr id="51" name="Text 48"/>
          <p:cNvSpPr txBox="1"/>
          <p:nvPr/>
        </p:nvSpPr>
        <p:spPr>
          <a:xfrm>
            <a:off x="3161081" y="5646420"/>
            <a:ext cx="7884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[Sistema de gestión, certificaciones y compromisos de seguridad y calidad]</a:t>
            </a:r>
            <a:endParaRPr lang="en-US" sz="1100">
              <a:solidFill>
                <a:srgbClr val="404040"/>
              </a:solidFill>
            </a:endParaRPr>
          </a:p>
        </p:txBody>
      </p:sp>
      <p:sp>
        <p:nvSpPr>
          <p:cNvPr id="52" name="Shape 49"/>
          <p:cNvSpPr/>
          <p:nvPr/>
        </p:nvSpPr>
        <p:spPr>
          <a:xfrm>
            <a:off x="891540" y="6012180"/>
            <a:ext cx="103555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Shape 50"/>
          <p:cNvSpPr/>
          <p:nvPr/>
        </p:nvSpPr>
        <p:spPr>
          <a:xfrm>
            <a:off x="838505" y="6012180"/>
            <a:ext cx="53035" cy="329184"/>
          </a:xfrm>
          <a:prstGeom prst="rect">
            <a:avLst/>
          </a:prstGeom>
          <a:solidFill>
            <a:srgbClr val="FC5E24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54" name="Text 51"/>
          <p:cNvSpPr txBox="1"/>
          <p:nvPr/>
        </p:nvSpPr>
        <p:spPr>
          <a:xfrm>
            <a:off x="1240841" y="60121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323232"/>
                </a:solidFill>
                <a:latin typeface="Overpass"/>
                <a:ea typeface="Overpass"/>
                <a:cs typeface="Overpass"/>
              </a:rPr>
              <a:t>Diferenciadores</a:t>
            </a:r>
            <a:endParaRPr lang="en-US" sz="1150">
              <a:solidFill>
                <a:srgbClr val="323232"/>
              </a:solidFill>
            </a:endParaRPr>
          </a:p>
        </p:txBody>
      </p:sp>
      <p:sp>
        <p:nvSpPr>
          <p:cNvPr id="55" name="Text 52"/>
          <p:cNvSpPr txBox="1"/>
          <p:nvPr/>
        </p:nvSpPr>
        <p:spPr>
          <a:xfrm>
            <a:off x="3161081" y="6048756"/>
            <a:ext cx="7884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>
                <a:solidFill>
                  <a:srgbClr val="404040"/>
                </a:solidFill>
                <a:latin typeface="Overpass"/>
                <a:ea typeface="Overpass"/>
                <a:cs typeface="Overpass"/>
              </a:rPr>
              <a:t>[Principales ventajas de la propuesta: experiencia en la faena, equipos, equipo humano, plan de continuidad]</a:t>
            </a:r>
            <a:endParaRPr lang="en-US" sz="1100">
              <a:solidFill>
                <a:srgbClr val="404040"/>
              </a:solidFill>
            </a:endParaRPr>
          </a:p>
        </p:txBody>
      </p:sp>
      <p:sp>
        <p:nvSpPr>
          <p:cNvPr id="100" name="Tarjeta 1"/>
          <p:cNvSpPr/>
          <p:nvPr/>
        </p:nvSpPr>
        <p:spPr>
          <a:xfrm>
            <a:off x="679207" y="901224"/>
            <a:ext cx="2557346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BFBFBF"/>
            </a:solidFill>
          </a:ln>
        </p:spPr>
        <p:txBody>
          <a:bodyPr wrap="square" lIns="108000" tIns="72000" rIns="108000" bIns="7200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s-CL" sz="900">
                <a:solidFill>
                  <a:srgbClr val="595959"/>
                </a:solidFill>
                <a:latin typeface="Overpass"/>
                <a:cs typeface="Overpass"/>
              </a:rPr>
              <a:t>PLAZO</a:t>
            </a:r>
          </a:p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62626"/>
                </a:solidFill>
                <a:latin typeface="Overpass"/>
                <a:cs typeface="Overpass"/>
              </a:rPr>
              <a:t>[XX] MESES</a:t>
            </a:r>
          </a:p>
          <a:p>
            <a:pPr algn="l">
              <a:spcAft>
                <a:spcPts val="0"/>
              </a:spcAft>
            </a:pPr>
            <a:r>
              <a:rPr lang="es-CL" sz="800">
                <a:solidFill>
                  <a:srgbClr val="595959"/>
                </a:solidFill>
                <a:latin typeface="Overpass"/>
                <a:cs typeface="Overpass"/>
              </a:rPr>
              <a:t>[fecha de inicio] – [fecha de término]</a:t>
            </a:r>
          </a:p>
        </p:txBody>
      </p:sp>
      <p:sp>
        <p:nvSpPr>
          <p:cNvPr id="101" name="Tarjeta 2"/>
          <p:cNvSpPr/>
          <p:nvPr/>
        </p:nvSpPr>
        <p:spPr>
          <a:xfrm>
            <a:off x="3419433" y="901224"/>
            <a:ext cx="2557346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BFBFBF"/>
            </a:solidFill>
          </a:ln>
        </p:spPr>
        <p:txBody>
          <a:bodyPr wrap="square" lIns="108000" tIns="72000" rIns="108000" bIns="7200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s-CL" sz="900">
                <a:solidFill>
                  <a:srgbClr val="595959"/>
                </a:solidFill>
                <a:latin typeface="Overpass"/>
                <a:cs typeface="Overpass"/>
              </a:rPr>
              <a:t>DOTACIÓN</a:t>
            </a:r>
          </a:p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62626"/>
                </a:solidFill>
                <a:latin typeface="Overpass"/>
                <a:cs typeface="Overpass"/>
              </a:rPr>
              <a:t>[XX] PERSONAS</a:t>
            </a:r>
          </a:p>
          <a:p>
            <a:pPr algn="l">
              <a:spcAft>
                <a:spcPts val="0"/>
              </a:spcAft>
            </a:pPr>
            <a:r>
              <a:rPr lang="es-CL" sz="800">
                <a:solidFill>
                  <a:srgbClr val="595959"/>
                </a:solidFill>
                <a:latin typeface="Overpass"/>
                <a:cs typeface="Overpass"/>
              </a:rPr>
              <a:t>[XX] directos · [X] indirectos</a:t>
            </a:r>
          </a:p>
        </p:txBody>
      </p:sp>
      <p:sp>
        <p:nvSpPr>
          <p:cNvPr id="102" name="Tarjeta 3"/>
          <p:cNvSpPr/>
          <p:nvPr/>
        </p:nvSpPr>
        <p:spPr>
          <a:xfrm>
            <a:off x="6159659" y="901224"/>
            <a:ext cx="2557346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BFBFBF"/>
            </a:solidFill>
          </a:ln>
        </p:spPr>
        <p:txBody>
          <a:bodyPr wrap="square" lIns="108000" tIns="72000" rIns="108000" bIns="7200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s-CL" sz="900">
                <a:solidFill>
                  <a:srgbClr val="595959"/>
                </a:solidFill>
                <a:latin typeface="Overpass"/>
                <a:cs typeface="Overpass"/>
              </a:rPr>
              <a:t>FLOTA / EQUIPOS</a:t>
            </a:r>
          </a:p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62626"/>
                </a:solidFill>
                <a:latin typeface="Overpass"/>
                <a:cs typeface="Overpass"/>
              </a:rPr>
              <a:t>[XX] EQUIPOS</a:t>
            </a:r>
          </a:p>
          <a:p>
            <a:pPr algn="l">
              <a:spcAft>
                <a:spcPts val="0"/>
              </a:spcAft>
            </a:pPr>
            <a:r>
              <a:rPr lang="es-CL" sz="800">
                <a:solidFill>
                  <a:srgbClr val="595959"/>
                </a:solidFill>
                <a:latin typeface="Overpass"/>
                <a:cs typeface="Overpass"/>
              </a:rPr>
              <a:t>[Detalle de los equipos principales]</a:t>
            </a:r>
          </a:p>
        </p:txBody>
      </p:sp>
      <p:sp>
        <p:nvSpPr>
          <p:cNvPr id="103" name="Tarjeta 4"/>
          <p:cNvSpPr/>
          <p:nvPr/>
        </p:nvSpPr>
        <p:spPr>
          <a:xfrm>
            <a:off x="8899885" y="901224"/>
            <a:ext cx="2557346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BFBFBF"/>
            </a:solidFill>
          </a:ln>
        </p:spPr>
        <p:txBody>
          <a:bodyPr wrap="square" lIns="108000" tIns="72000" rIns="108000" bIns="7200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s-CL" sz="900">
                <a:solidFill>
                  <a:srgbClr val="595959"/>
                </a:solidFill>
                <a:latin typeface="Overpass"/>
                <a:cs typeface="Overpass"/>
              </a:rPr>
              <a:t>DISPONIBILIDAD</a:t>
            </a:r>
          </a:p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62626"/>
                </a:solidFill>
                <a:latin typeface="Overpass"/>
                <a:cs typeface="Overpass"/>
              </a:rPr>
              <a:t>[XX]%</a:t>
            </a:r>
          </a:p>
          <a:p>
            <a:pPr algn="l">
              <a:spcAft>
                <a:spcPts val="0"/>
              </a:spcAft>
            </a:pPr>
            <a:r>
              <a:rPr lang="es-CL" sz="800">
                <a:solidFill>
                  <a:srgbClr val="595959"/>
                </a:solidFill>
                <a:latin typeface="Overpass"/>
                <a:cs typeface="Overpass"/>
              </a:rPr>
              <a:t>Disponibilidad mínima exigida en bases</a:t>
            </a:r>
          </a:p>
        </p:txBody>
      </p:sp>
    </p:spTree>
    <p:extLst>
      <p:ext uri="{BB962C8B-B14F-4D97-AF65-F5344CB8AC3E}">
        <p14:creationId xmlns:p14="http://schemas.microsoft.com/office/powerpoint/2010/main" val="1031380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Tema de Office [1792355199488]">
  <a:themeElements>
    <a:clrScheme name="Steel">
      <a:dk1>
        <a:sysClr val="windowText" lastClr="000000"/>
      </a:dk1>
      <a:lt1>
        <a:sysClr val="window" lastClr="FFFFFF"/>
      </a:lt1>
      <a:dk2>
        <a:srgbClr val="3F3F3F"/>
      </a:dk2>
      <a:lt2>
        <a:srgbClr val="D8D8D8"/>
      </a:lt2>
      <a:accent1>
        <a:srgbClr val="FC5E24"/>
      </a:accent1>
      <a:accent2>
        <a:srgbClr val="F0AE94"/>
      </a:accent2>
      <a:accent3>
        <a:srgbClr val="D7D7D7"/>
      </a:accent3>
      <a:accent4>
        <a:srgbClr val="D7D7D7"/>
      </a:accent4>
      <a:accent5>
        <a:srgbClr val="D94A15"/>
      </a:accent5>
      <a:accent6>
        <a:srgbClr val="BD461B"/>
      </a:accent6>
      <a:hlink>
        <a:srgbClr val="BD461B"/>
      </a:hlink>
      <a:folHlink>
        <a:srgbClr val="8A5A4C"/>
      </a:folHlink>
    </a:clrScheme>
    <a:fontScheme name="Veltis Overpass">
      <a:majorFont>
        <a:latin typeface="Overpas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verpas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rcRect/>
          <a:stretch>
            <a:fillRect l="-44883" r="-5191"/>
          </a:stretch>
        </a:blipFill>
        <a:ln>
          <a:noFill/>
        </a:ln>
        <a:effectLst>
          <a:outerShdw blurRad="760704" dist="38100" dir="10800000" sx="101000" sy="101000" algn="r" rotWithShape="0">
            <a:prstClr val="black">
              <a:alpha val="40943"/>
            </a:prstClr>
          </a:outerShdw>
        </a:effectLst>
      </a:spPr>
      <a:bodyPr wrap="square" rtlCol="0" anchor="ctr">
        <a:noAutofit/>
      </a:bodyPr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Veltis Overpass">
      <a:majorFont>
        <a:latin typeface="Overpas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verpas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731F2B1-63E7-4EF3-9C75-E263E72DC35F}">
  <we:reference id="11d7cf85-ae5a-43b8-bc58-1e1a151cce24" version="1.0.0.1" store="EXCatalog" storeType="EXCatalog"/>
  <we:alternateReferences>
    <we:reference id="WA200010725" version="1.0.0.1" store="es-MX" storeType="OMEX"/>
  </we:alternateReferences>
  <we:properties>
    <we:property name="claude.fileId" value="&quot;8adfaced-1585-4aa2-9fa8-cf52dd6561f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93DC9CC536CFC488E8704DFC0660101" ma:contentTypeVersion="29" ma:contentTypeDescription="Crear nuevo documento." ma:contentTypeScope="" ma:versionID="5ee2db4feea4c1bdd71c0333fb3fdb46">
  <xsd:schema xmlns:xsd="http://www.w3.org/2001/XMLSchema" xmlns:xs="http://www.w3.org/2001/XMLSchema" xmlns:p="http://schemas.microsoft.com/office/2006/metadata/properties" xmlns:ns2="96578740-3135-4da3-b5ad-bb6612299138" xmlns:ns3="3f75a9bd-1252-4eb8-94cf-5e36f3a22f49" targetNamespace="http://schemas.microsoft.com/office/2006/metadata/properties" ma:root="true" ma:fieldsID="fe5e9af065fd46af68fee9c1495cd375" ns2:_="" ns3:_="">
    <xsd:import namespace="96578740-3135-4da3-b5ad-bb6612299138"/>
    <xsd:import namespace="3f75a9bd-1252-4eb8-94cf-5e36f3a22f49"/>
    <xsd:element name="properties">
      <xsd:complexType>
        <xsd:sequence>
          <xsd:element name="documentManagement">
            <xsd:complexType>
              <xsd:all>
                <xsd:element ref="ns2:_x0062_q1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ResponsabledeProceso" minOccurs="0"/>
                <xsd:element ref="ns2:Editado" minOccurs="0"/>
                <xsd:element ref="ns2:lcf76f155ced4ddcb4097134ff3c332f" minOccurs="0"/>
                <xsd:element ref="ns3:TaxCatchAll" minOccurs="0"/>
                <xsd:element ref="ns2:Code" minOccurs="0"/>
                <xsd:element ref="ns2:MediaServiceObjectDetectorVersions" minOccurs="0"/>
                <xsd:element ref="ns2:MediaServiceSearchProperties" minOccurs="0"/>
                <xsd:element ref="ns2:OBS" minOccurs="0"/>
                <xsd:element ref="ns2:ClientCode" minOccurs="0"/>
                <xsd:element ref="ns2:Status" minOccurs="0"/>
                <xsd:element ref="ns2:ID_NOMBR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578740-3135-4da3-b5ad-bb6612299138" elementFormDefault="qualified">
    <xsd:import namespace="http://schemas.microsoft.com/office/2006/documentManagement/types"/>
    <xsd:import namespace="http://schemas.microsoft.com/office/infopath/2007/PartnerControls"/>
    <xsd:element name="_x0062_q14" ma:index="8" nillable="true" ma:displayName="ID" ma:internalName="_x0062_q14">
      <xsd:simpleType>
        <xsd:restriction base="dms:Number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ResponsabledeProceso" ma:index="22" nillable="true" ma:displayName="Responsable de Proceso" ma:format="Dropdown" ma:list="UserInfo" ma:SharePointGroup="0" ma:internalName="ResponsabledeProceso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ado" ma:index="23" nillable="true" ma:displayName="Editado" ma:format="Dropdown" ma:list="UserInfo" ma:SharePointGroup="5" ma:internalName="Editado" ma:showField="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25" nillable="true" ma:taxonomy="true" ma:internalName="lcf76f155ced4ddcb4097134ff3c332f" ma:taxonomyFieldName="MediaServiceImageTags" ma:displayName="Etiquetas de imagen" ma:readOnly="false" ma:fieldId="{5cf76f15-5ced-4ddc-b409-7134ff3c332f}" ma:taxonomyMulti="true" ma:sspId="6d3819eb-7975-4b8f-9ed4-5a5ba45516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Code" ma:index="27" nillable="true" ma:displayName="Code" ma:default="Code / Not" ma:description="Codigo de proceso / Sin Codificar" ma:format="Dropdown" ma:internalName="Code">
      <xsd:simpleType>
        <xsd:restriction base="dms:Text">
          <xsd:maxLength value="16"/>
        </xsd:restriction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" ma:index="30" nillable="true" ma:displayName="OBS" ma:default="&amp;quot;Rev&amp;quot;" ma:description="Cumple con las Cant de Cot necesarias" ma:format="Dropdown" ma:internalName="OBS">
      <xsd:simpleType>
        <xsd:restriction base="dms:Note">
          <xsd:maxLength value="255"/>
        </xsd:restriction>
      </xsd:simpleType>
    </xsd:element>
    <xsd:element name="ClientCode" ma:index="31" nillable="true" ma:displayName="Client Code" ma:format="Dropdown" ma:internalName="ClientCode">
      <xsd:simpleType>
        <xsd:restriction base="dms:Text">
          <xsd:maxLength value="255"/>
        </xsd:restriction>
      </xsd:simpleType>
    </xsd:element>
    <xsd:element name="Status" ma:index="32" nillable="true" ma:displayName="Status" ma:default="In Study" ma:format="Dropdown" ma:internalName="Status">
      <xsd:simpleType>
        <xsd:restriction base="dms:Choice">
          <xsd:enumeration value="In Study"/>
          <xsd:enumeration value="Subm"/>
          <xsd:enumeration value="Won"/>
          <xsd:enumeration value="Canceled"/>
          <xsd:enumeration value="Lost"/>
        </xsd:restriction>
      </xsd:simpleType>
    </xsd:element>
    <xsd:element name="ID_NOMBRE" ma:index="33" nillable="true" ma:displayName="ID_NOMBRE" ma:decimals="0" ma:format="Dropdown" ma:internalName="ID_NOMBRE" ma:percentage="FALSE">
      <xsd:simpleType>
        <xsd:restriction base="dms:Number"/>
      </xsd:simpleType>
    </xsd:element>
    <xsd:element name="MediaServiceBillingMetadata" ma:index="3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75a9bd-1252-4eb8-94cf-5e36f3a22f49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53509b36-ee4f-42d1-94cf-8acb30b689f9}" ma:internalName="TaxCatchAll" ma:showField="CatchAllData" ma:web="3f75a9bd-1252-4eb8-94cf-5e36f3a22f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0062_q14 xmlns="96578740-3135-4da3-b5ad-bb6612299138" xsi:nil="true"/>
    <ResponsabledeProceso xmlns="96578740-3135-4da3-b5ad-bb6612299138">
      <UserInfo>
        <DisplayName/>
        <AccountId xsi:nil="true"/>
        <AccountType/>
      </UserInfo>
    </ResponsabledeProceso>
    <Editado xmlns="96578740-3135-4da3-b5ad-bb6612299138">
      <UserInfo>
        <DisplayName/>
        <AccountId xsi:nil="true"/>
        <AccountType/>
      </UserInfo>
    </Editado>
    <lcf76f155ced4ddcb4097134ff3c332f xmlns="96578740-3135-4da3-b5ad-bb6612299138">
      <Terms xmlns="http://schemas.microsoft.com/office/infopath/2007/PartnerControls"/>
    </lcf76f155ced4ddcb4097134ff3c332f>
    <TaxCatchAll xmlns="3f75a9bd-1252-4eb8-94cf-5e36f3a22f49" xsi:nil="true"/>
    <Code xmlns="96578740-3135-4da3-b5ad-bb6612299138">Code / Not</Code>
    <OBS xmlns="96578740-3135-4da3-b5ad-bb6612299138">&amp;quot;Rev&amp;quot;</OBS>
    <Status xmlns="96578740-3135-4da3-b5ad-bb6612299138">In Study</Status>
    <ClientCode xmlns="96578740-3135-4da3-b5ad-bb6612299138" xsi:nil="true"/>
    <ID_NOMBRE xmlns="96578740-3135-4da3-b5ad-bb661229913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186C1AC-3335-4013-B111-73A394BA967D}">
  <ds:schemaRefs>
    <ds:schemaRef ds:uri="3f75a9bd-1252-4eb8-94cf-5e36f3a22f49"/>
    <ds:schemaRef ds:uri="96578740-3135-4da3-b5ad-bb661229913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D19D480-5054-476E-B283-386809C93132}">
  <ds:schemaRefs>
    <ds:schemaRef ds:uri="3f75a9bd-1252-4eb8-94cf-5e36f3a22f49"/>
    <ds:schemaRef ds:uri="96578740-3135-4da3-b5ad-bb661229913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F561109-6969-4980-ABE6-0D54D6638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Panorámica</PresentationFormat>
  <Slides>9</Slides>
  <Notes>6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Licitaciones Veltis — Comité y Comercial</dc:title>
  <dc:creator>MCO</dc:creator>
  <cp:lastModifiedBy>Carlos Alberto Armas Torres</cp:lastModifiedBy>
  <cp:revision>3</cp:revision>
  <dcterms:created xsi:type="dcterms:W3CDTF">2019-07-08T12:00:55Z</dcterms:created>
  <dcterms:modified xsi:type="dcterms:W3CDTF">2026-10-20T16:23:27Z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0x010100293DC9CC536CFC488E8704DFC0660101</vt:lpwstr>
  </property>
  <property fmtid="{D5CDD505-2E9C-101B-9397-08002B2CF9AE}" pid="3" name="MediaServiceImageTags">
    <vt:lpwstr/>
  </property>
  <property fmtid="{D5CDD505-2E9C-101B-9397-08002B2CF9AE}" pid="4" name="MSIP_Label_ea60d57e-af5b-4752-ac57-3e4f28ca11dc_Enabled">
    <vt:lpwstr>true</vt:lpwstr>
  </property>
  <property fmtid="{D5CDD505-2E9C-101B-9397-08002B2CF9AE}" pid="5" name="MSIP_Label_ea60d57e-af5b-4752-ac57-3e4f28ca11dc_SetDate">
    <vt:lpwstr>2024-02-14T19:59:58Z</vt:lpwstr>
  </property>
  <property fmtid="{D5CDD505-2E9C-101B-9397-08002B2CF9AE}" pid="6" name="MSIP_Label_ea60d57e-af5b-4752-ac57-3e4f28ca11dc_Method">
    <vt:lpwstr>Standard</vt:lpwstr>
  </property>
  <property fmtid="{D5CDD505-2E9C-101B-9397-08002B2CF9AE}" pid="7" name="MSIP_Label_ea60d57e-af5b-4752-ac57-3e4f28ca11dc_Name">
    <vt:lpwstr>ea60d57e-af5b-4752-ac57-3e4f28ca11dc</vt:lpwstr>
  </property>
  <property fmtid="{D5CDD505-2E9C-101B-9397-08002B2CF9AE}" pid="8" name="MSIP_Label_ea60d57e-af5b-4752-ac57-3e4f28ca11dc_SiteId">
    <vt:lpwstr>36da45f1-dd2c-4d1f-af13-5abe46b99921</vt:lpwstr>
  </property>
  <property fmtid="{D5CDD505-2E9C-101B-9397-08002B2CF9AE}" pid="9" name="MSIP_Label_ea60d57e-af5b-4752-ac57-3e4f28ca11dc_ActionId">
    <vt:lpwstr>e269da1b-9e27-4f2a-92bc-05674db6a081</vt:lpwstr>
  </property>
  <property fmtid="{D5CDD505-2E9C-101B-9397-08002B2CF9AE}" pid="10" name="MSIP_Label_ea60d57e-af5b-4752-ac57-3e4f28ca11dc_ContentBits">
    <vt:lpwstr>0</vt:lpwstr>
  </property>
</Properties>
</file>